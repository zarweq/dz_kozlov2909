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E63E62"/>
              </a:solidFill>
              <a:effectLst/>
            </c:spPr>
          </c:dPt>
          <c:dPt>
            <c:idx val="3"/>
            <c:bubble3D val="0"/>
            <c:spPr>
              <a:solidFill>
                <a:srgbClr val="FF8A00"/>
              </a:solidFill>
              <a:effectLst/>
            </c:spPr>
          </c:dPt>
          <c:dPt>
            <c:idx val="4"/>
            <c:bubble3D val="0"/>
            <c:spPr>
              <a:solidFill>
                <a:srgbClr val="0B1F3A"/>
              </a:solidFill>
              <a:effectLst/>
            </c:spPr>
          </c:dPt>
          <c:dPt>
            <c:idx val="5"/>
            <c:bubble3D val="0"/>
            <c:spPr>
              <a:solidFill>
                <a:srgbClr val="F7C948"/>
              </a:solidFill>
              <a:effectLst/>
            </c:spPr>
          </c:dPt>
          <c:dPt>
            <c:idx val="6"/>
            <c:bubble3D val="0"/>
            <c:spPr>
              <a:solidFill>
                <a:srgbClr val="22B57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Рабочие станции</c:v>
                </c:pt>
                <c:pt idx="1">
                  <c:v>Сервер</c:v>
                </c:pt>
                <c:pt idx="2">
                  <c:v>Коммутаторы</c:v>
                </c:pt>
                <c:pt idx="3">
                  <c:v>МФУ</c:v>
                </c:pt>
                <c:pt idx="4">
                  <c:v>Маршрутизатор</c:v>
                </c:pt>
                <c:pt idx="5">
                  <c:v>Шкаф + ИБП</c:v>
                </c:pt>
                <c:pt idx="6">
                  <c:v>Расходники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558000</c:v>
                </c:pt>
                <c:pt idx="1">
                  <c:v>210000</c:v>
                </c:pt>
                <c:pt idx="2">
                  <c:v>112000</c:v>
                </c:pt>
                <c:pt idx="3">
                  <c:v>72000</c:v>
                </c:pt>
                <c:pt idx="4">
                  <c:v>65000</c:v>
                </c:pt>
                <c:pt idx="5">
                  <c:v>80000</c:v>
                </c:pt>
                <c:pt idx="6">
                  <c:v>41300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731520"/>
            <a:ext cx="685800" cy="685800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882396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95160" y="731520"/>
            <a:ext cx="685800" cy="68580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036" y="882396"/>
            <a:ext cx="384048" cy="3840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863840" y="73152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882396"/>
            <a:ext cx="384048" cy="38404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560820" y="160020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1751076"/>
            <a:ext cx="384048" cy="38404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429500" y="1600200"/>
            <a:ext cx="685800" cy="685800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1751076"/>
            <a:ext cx="384048" cy="38404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4864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Проектирование ЛВС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офиса на 3 отдела</a:t>
            </a:r>
            <a:endParaRPr lang="en-US" sz="38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2880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Топология, настройка в Cisco Packet Tracer и смета на оборудование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Калиберда Сергей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Задание проекта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офис: бухгалтерия, отдел продаж и IT-отдел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685800" cy="685800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7967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Топология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Иерархическая звезда: маршрутизатор → ядро → 3 коммутатора отделов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8920" y="164592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96" y="1796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Сегментация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9260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отдел в своей VLAN, серверы в отдельной VLAN 99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1645920"/>
            <a:ext cx="685800" cy="68580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6" y="17967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9260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Router-on-a-stick, DHCP для всех ПК, trunk-каналы, пароли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66560" y="1417320"/>
            <a:ext cx="1874520" cy="310896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95160" y="1645920"/>
            <a:ext cx="685800" cy="685800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36" y="17967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Закупка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29260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 оборудования и расходных материалов с ценами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Топология сети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234440"/>
            <a:ext cx="914" cy="914400"/>
          </a:xfrm>
          <a:prstGeom prst="line">
            <a:avLst/>
          </a:prstGeom>
          <a:noFill/>
          <a:ln w="381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2148840"/>
            <a:ext cx="2377440" cy="914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737360" y="2148840"/>
            <a:ext cx="2834640" cy="960120"/>
          </a:xfrm>
          <a:prstGeom prst="line">
            <a:avLst/>
          </a:prstGeom>
          <a:noFill/>
          <a:ln w="3175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148840"/>
            <a:ext cx="914" cy="960120"/>
          </a:xfrm>
          <a:prstGeom prst="line">
            <a:avLst/>
          </a:prstGeom>
          <a:noFill/>
          <a:ln w="3175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148840"/>
            <a:ext cx="2834640" cy="960120"/>
          </a:xfrm>
          <a:prstGeom prst="line">
            <a:avLst/>
          </a:prstGeom>
          <a:noFill/>
          <a:ln w="3175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051560" y="3108960"/>
            <a:ext cx="685800" cy="1024128"/>
          </a:xfrm>
          <a:prstGeom prst="line">
            <a:avLst/>
          </a:prstGeom>
          <a:noFill/>
          <a:ln w="19050">
            <a:solidFill>
              <a:srgbClr val="22B5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3108960"/>
            <a:ext cx="914" cy="1024128"/>
          </a:xfrm>
          <a:prstGeom prst="line">
            <a:avLst/>
          </a:prstGeom>
          <a:noFill/>
          <a:ln w="19050">
            <a:solidFill>
              <a:srgbClr val="22B5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3108960"/>
            <a:ext cx="685800" cy="1024128"/>
          </a:xfrm>
          <a:prstGeom prst="line">
            <a:avLst/>
          </a:prstGeom>
          <a:noFill/>
          <a:ln w="19050">
            <a:solidFill>
              <a:srgbClr val="22B5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886200" y="3108960"/>
            <a:ext cx="685800" cy="1024128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3108960"/>
            <a:ext cx="914" cy="1024128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108960"/>
            <a:ext cx="685800" cy="1024128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720840" y="3108960"/>
            <a:ext cx="685800" cy="1024128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3108960"/>
            <a:ext cx="914" cy="1024128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108960"/>
            <a:ext cx="685800" cy="1024128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8536" y="96012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60" y="1084844"/>
            <a:ext cx="317480" cy="3174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928616" y="10424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Cisco 2911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G0/0.10/.20/.30/.99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88536" y="1874520"/>
            <a:ext cx="566928" cy="566928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60" y="1999244"/>
            <a:ext cx="317480" cy="3174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660904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SW-CORE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2960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665976" y="1874520"/>
            <a:ext cx="566928" cy="5669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700" y="1999244"/>
            <a:ext cx="317480" cy="3174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17920" y="24597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192.168.99.10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453896" y="2834640"/>
            <a:ext cx="566928" cy="566928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620" y="2959364"/>
            <a:ext cx="317480" cy="3174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-173736" y="29169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SW-BUH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50392" y="3931920"/>
            <a:ext cx="402336" cy="40233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020434"/>
            <a:ext cx="225308" cy="2253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152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536192" y="3931920"/>
            <a:ext cx="402336" cy="40233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706" y="4020434"/>
            <a:ext cx="225308" cy="22530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1732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2221992" y="3931920"/>
            <a:ext cx="402336" cy="40233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0506" y="4020434"/>
            <a:ext cx="225308" cy="22530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10312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4288536" y="2834640"/>
            <a:ext cx="566928" cy="56692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3260" y="2959364"/>
            <a:ext cx="317480" cy="31748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2660904" y="29169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SW-SALES</a:t>
            </a:r>
            <a:endParaRPr lang="en-US" sz="11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3685032" y="39319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3546" y="4020434"/>
            <a:ext cx="225308" cy="22530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356616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PC4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4370832" y="39319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9346" y="4020434"/>
            <a:ext cx="225308" cy="22530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425196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PC5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5056632" y="39319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5146" y="4020434"/>
            <a:ext cx="225308" cy="225308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493776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PC6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7123176" y="2834640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7900" y="2959364"/>
            <a:ext cx="317480" cy="317480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7763256" y="29169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SW-IT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1100" dirty="0"/>
          </a:p>
        </p:txBody>
      </p:sp>
      <p:sp>
        <p:nvSpPr>
          <p:cNvPr id="53" name="Shape 39"/>
          <p:cNvSpPr/>
          <p:nvPr/>
        </p:nvSpPr>
        <p:spPr>
          <a:xfrm>
            <a:off x="6519672" y="3931920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8186" y="4020434"/>
            <a:ext cx="225308" cy="225308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640080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PC7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7205472" y="3931920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3986" y="4020434"/>
            <a:ext cx="225308" cy="225308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708660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PC8</a:t>
            </a:r>
            <a:endParaRPr lang="en-US" sz="900" dirty="0"/>
          </a:p>
        </p:txBody>
      </p:sp>
      <p:sp>
        <p:nvSpPr>
          <p:cNvPr id="59" name="Shape 43"/>
          <p:cNvSpPr/>
          <p:nvPr/>
        </p:nvSpPr>
        <p:spPr>
          <a:xfrm>
            <a:off x="7891272" y="3931920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9786" y="4020434"/>
            <a:ext cx="225308" cy="225308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7772400" y="4352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PC9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457200" y="1097280"/>
            <a:ext cx="164592" cy="164592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63" name="Text 46"/>
          <p:cNvSpPr txBox="1"/>
          <p:nvPr/>
        </p:nvSpPr>
        <p:spPr>
          <a:xfrm>
            <a:off x="685800" y="1033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Бухгалтерия</a:t>
            </a:r>
            <a:endParaRPr lang="en-US" sz="1100" dirty="0"/>
          </a:p>
        </p:txBody>
      </p:sp>
      <p:sp>
        <p:nvSpPr>
          <p:cNvPr id="64" name="Shape 47"/>
          <p:cNvSpPr/>
          <p:nvPr/>
        </p:nvSpPr>
        <p:spPr>
          <a:xfrm>
            <a:off x="457200" y="1389888"/>
            <a:ext cx="164592" cy="16459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65" name="Text 48"/>
          <p:cNvSpPr txBox="1"/>
          <p:nvPr/>
        </p:nvSpPr>
        <p:spPr>
          <a:xfrm>
            <a:off x="68580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</a:t>
            </a:r>
            <a:endParaRPr lang="en-US" sz="1100" dirty="0"/>
          </a:p>
        </p:txBody>
      </p:sp>
      <p:sp>
        <p:nvSpPr>
          <p:cNvPr id="66" name="Shape 49"/>
          <p:cNvSpPr/>
          <p:nvPr/>
        </p:nvSpPr>
        <p:spPr>
          <a:xfrm>
            <a:off x="457200" y="1682496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685800" y="1618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IT-отдел</a:t>
            </a:r>
            <a:endParaRPr lang="en-US" sz="1100" dirty="0"/>
          </a:p>
        </p:txBody>
      </p:sp>
      <p:sp>
        <p:nvSpPr>
          <p:cNvPr id="68" name="Shape 51"/>
          <p:cNvSpPr/>
          <p:nvPr/>
        </p:nvSpPr>
        <p:spPr>
          <a:xfrm>
            <a:off x="457200" y="197510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52"/>
          <p:cNvSpPr txBox="1"/>
          <p:nvPr/>
        </p:nvSpPr>
        <p:spPr>
          <a:xfrm>
            <a:off x="685800" y="1911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Топология в Cisco Packet Tracer</a:t>
            </a:r>
            <a:endParaRPr lang="en-US" sz="3000" dirty="0"/>
          </a:p>
        </p:txBody>
      </p:sp>
      <p:pic>
        <p:nvPicPr>
          <p:cNvPr id="3" name="Image 0" descr="/Users/sergei/Desktop/LAN_Project/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54559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VLAN и план IP-адресации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 /24 (255.255.255.0) во всех сетях, адреса ПК выдаёт DHCP на R1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17320"/>
                <a:gridCol w="1325880"/>
                <a:gridCol w="1325880"/>
                <a:gridCol w="13258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Отдел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Шлюз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DHCP-диапазон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Устройства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B5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Бухгалтерия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.11 – .254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PC1–PC3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Отдел продаж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.11 – .254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PC4–PC6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IT-отдел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.11 – .254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PC7–PC9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Серверы / упр.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192.168.99.0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192.168.99.1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.10, коммутаторы .2–.5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VLAN: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отделы изолированы на канальном уровне, широковещательный трафик не выходит за пределы отдела, а доступ между отделами контролирует маршрутизатор.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подключения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соединения — медный прямой кабель (Copper Straight-Through)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73736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Устройство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Подключено 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G0/0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SW-BUH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SW-BUH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Fa0/1, 3,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PC1–PC3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Fa0/1, 3,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PC4–PC6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Fa0/1, 3,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PC7–PC9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3E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325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23774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кабелей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34747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520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 маршрутизатора R1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Router-on-a-stick: одна физическая линия, четыре логических подынтерфейса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GigabitEthernet0/0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GigabitEthernet0/0.10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encapsulation dot1Q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192.168.10.1 255.255.255.0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аналогично .20, .30, .99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secret cisco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console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cisco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excluded-address 192.168.10.1 192.168.10.10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pool BUH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192.168.10.0 255.255.255.0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default-router 192.168.10.1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dns-server 192.168.99.10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пулы SALES и IT — аналогично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13258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7141" y="1446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Подынтерфейсы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600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Шлюз для каждой VLAN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06440" y="2423160"/>
            <a:ext cx="548640" cy="548640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141" y="25438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9224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пула — ПК получают адрес автоматически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06440" y="3520440"/>
            <a:ext cx="548640" cy="548640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41" y="36411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794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secret, пароль консоли, баннер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 коммутаторов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конфигурации — в папке configs/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 w="19050">
            <a:solidFill>
              <a:srgbClr val="E63E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E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SW-CORE (ядро)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BUH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SALES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SERVERS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g0/1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range fa0/1,fa0/3,fa0/5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fa0/13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access vlan 99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4F7F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SW-BUH / SW-SALES / SW-IT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          ! 20 /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BUH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fa0/24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range fa0/1 - 23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access vlan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spanning-tree portfast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vlan 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192.168.99.3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default-gateway 192.168.99.1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Закупка оборудования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Ориентировочные цены, 2026 г.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822960"/>
                <a:gridCol w="118872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Наименование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Маршрутизатор Cisco ISR 2911/K9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Коммутатор Cisco Catalyst 2960-24TT-L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Рабочая станция (Core i5, 16 ГБ, SSD 512 ГБ) + монитор 24"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 HPE ProLiant DL20 Gen10 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МФУ лазерное сетевое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Шкаф серверный 19" 18U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E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ИБП APC Smart-UPS 1500 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оборудование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E6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1 097 000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E6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Расходные материалы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прокладки СКС и подключения рабочих мест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822960"/>
                <a:gridCol w="1188720"/>
                <a:gridCol w="13716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Наименование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B5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B5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B5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B57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Кабель витая пара UTP Cat.5e, бухта 305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7 500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Коннекторы RJ-45 8P8C (уп. 100 шт.)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Изолирующие колпачки (уп. 100 шт.)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Патч-панель 24 порта Cat.5e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Розетка RJ-45 настенная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Кабель-канал 25×16 мм, 2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Патч-корд UTP 1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Консольный кабель Cisco RJ-45 – 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Кримпер + LAN-тестер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Стяжки, маркировка, крепёж (комплект)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расходные материалы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41 300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проекта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94960" y="11887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2356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стоимость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1 138 300 ₽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40680" y="3081528"/>
            <a:ext cx="201168" cy="201168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29992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1 097 000 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40680" y="3630168"/>
            <a:ext cx="201168" cy="201168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Расходные материалы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547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41 300 ₽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работы сети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ping с рабочих станций в Packet Tracer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3560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PC9 (IT)  →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— бухгалтерия 192.168.10.11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898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0" y="12801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93852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093976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19385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PC9 (IT)  →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PC5 — продажи 192.168.20.12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4825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9200" y="193852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596896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2752344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" y="25968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PC9 (IT)  →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192.168.99.10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066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29200" y="259689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255264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410712"/>
            <a:ext cx="219456" cy="219456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60120" y="32552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Trunk-каналы  →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802.1Q, все линки up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6499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029200" y="325526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" y="3913632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4069080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60120" y="39136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ПК  →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получили IP по DHCP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2336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29200" y="39136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943600" y="1280160"/>
            <a:ext cx="2743200" cy="3163824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126480" y="141732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192.168.10.11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timed out.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from 192.168.10.11: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bytes=32 time&lt;1ms TTL=127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from 192.168.10.11: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bytes=32 time&lt;1ms TTL=127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 = 4, Received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(1-й пакет — ARP-запрос)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E63E62"/>
          </a:solidFill>
          <a:ln w="12700">
            <a:solidFill>
              <a:srgbClr val="E63E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ЛВС на 3 отдела: 9 ПК, сервер, 4 коммутатора, маршрутизатор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36098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Отделы разделены по VLAN, маршрутизация между ними — на R1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18394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раздаются по DHCP, связь между всеми узлами проверена ping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006901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Составлена смета: 1 138 300 ₽ на оборудование и материалы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ЛВС офиса на 3 отдела — Cisco Packet Tracer</dc:title>
  <dc:subject>PptxGenJS Presentation</dc:subject>
  <dc:creator>PptxGenJS</dc:creator>
  <cp:lastModifiedBy>PptxGenJS</cp:lastModifiedBy>
  <cp:revision>1</cp:revision>
  <dcterms:created xsi:type="dcterms:W3CDTF">2026-09-29T05:23:20Z</dcterms:created>
  <dcterms:modified xsi:type="dcterms:W3CDTF">2026-09-29T05:23:20Z</dcterms:modified>
</cp:coreProperties>
</file>