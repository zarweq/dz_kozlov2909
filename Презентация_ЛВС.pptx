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1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Бюджет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8B5CF6"/>
              </a:solidFill>
              <a:effectLst/>
            </c:spPr>
          </c:dPt>
          <c:dPt>
            <c:idx val="1"/>
            <c:bubble3D val="0"/>
            <c:spPr>
              <a:solidFill>
                <a:srgbClr val="00B4D8"/>
              </a:solidFill>
              <a:effectLst/>
            </c:spPr>
          </c:dPt>
          <c:dPt>
            <c:idx val="2"/>
            <c:bubble3D val="0"/>
            <c:spPr>
              <a:solidFill>
                <a:srgbClr val="E63E62"/>
              </a:solidFill>
              <a:effectLst/>
            </c:spPr>
          </c:dPt>
          <c:dPt>
            <c:idx val="3"/>
            <c:bubble3D val="0"/>
            <c:spPr>
              <a:solidFill>
                <a:srgbClr val="FF8A00"/>
              </a:solidFill>
              <a:effectLst/>
            </c:spPr>
          </c:dPt>
          <c:dPt>
            <c:idx val="4"/>
            <c:bubble3D val="0"/>
            <c:spPr>
              <a:solidFill>
                <a:srgbClr val="0B1F3A"/>
              </a:solidFill>
              <a:effectLst/>
            </c:spPr>
          </c:dPt>
          <c:dPt>
            <c:idx val="5"/>
            <c:bubble3D val="0"/>
            <c:spPr>
              <a:solidFill>
                <a:srgbClr val="F7C948"/>
              </a:solidFill>
              <a:effectLst/>
            </c:spPr>
          </c:dPt>
          <c:dPt>
            <c:idx val="6"/>
            <c:bubble3D val="0"/>
            <c:spPr>
              <a:solidFill>
                <a:srgbClr val="22B573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5"/>
              <c:numFmt formatCode="0%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6"/>
              <c:numFmt formatCode="0%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Sheet1!$A$2:$A$8</c:f>
              <c:strCache>
                <c:ptCount val="7"/>
                <c:pt idx="0">
                  <c:v>Рабочие станции</c:v>
                </c:pt>
                <c:pt idx="1">
                  <c:v>Сервер</c:v>
                </c:pt>
                <c:pt idx="2">
                  <c:v>Коммутаторы</c:v>
                </c:pt>
                <c:pt idx="3">
                  <c:v>МФУ</c:v>
                </c:pt>
                <c:pt idx="4">
                  <c:v>Маршрутизатор</c:v>
                </c:pt>
                <c:pt idx="5">
                  <c:v>Шкаф + ИБП</c:v>
                </c:pt>
                <c:pt idx="6">
                  <c:v>Расходники</c:v>
                </c:pt>
              </c:strCache>
            </c:strRef>
          </c:cat>
          <c:val>
            <c:numRef>
              <c:f>Sheet1!$B$2:$B$8</c:f>
              <c:numCache>
                <c:ptCount val="7"/>
                <c:pt idx="0">
                  <c:v>558000</c:v>
                </c:pt>
                <c:pt idx="1">
                  <c:v>210000</c:v>
                </c:pt>
                <c:pt idx="2">
                  <c:v>112000</c:v>
                </c:pt>
                <c:pt idx="3">
                  <c:v>72000</c:v>
                </c:pt>
                <c:pt idx="4">
                  <c:v>65000</c:v>
                </c:pt>
                <c:pt idx="5">
                  <c:v>80000</c:v>
                </c:pt>
                <c:pt idx="6">
                  <c:v>41300</c:v>
                </c:pt>
              </c:numCache>
            </c:numRef>
          </c:val>
        </c:ser>
        <c:firstSliceAng val="0"/>
        <c:holeSize val="55"/>
      </c:doughnutChart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1100"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image" Target="../media/image-3-7.png"/><Relationship Id="rId8" Type="http://schemas.openxmlformats.org/officeDocument/2006/relationships/image" Target="../media/image-3-8.png"/><Relationship Id="rId9" Type="http://schemas.openxmlformats.org/officeDocument/2006/relationships/image" Target="../media/image-3-9.png"/><Relationship Id="rId10" Type="http://schemas.openxmlformats.org/officeDocument/2006/relationships/image" Target="../media/image-3-10.png"/><Relationship Id="rId11" Type="http://schemas.openxmlformats.org/officeDocument/2006/relationships/image" Target="../media/image-3-11.png"/><Relationship Id="rId12" Type="http://schemas.openxmlformats.org/officeDocument/2006/relationships/image" Target="../media/image-3-12.png"/><Relationship Id="rId13" Type="http://schemas.openxmlformats.org/officeDocument/2006/relationships/image" Target="../media/image-3-13.png"/><Relationship Id="rId14" Type="http://schemas.openxmlformats.org/officeDocument/2006/relationships/image" Target="../media/image-3-14.png"/><Relationship Id="rId15" Type="http://schemas.openxmlformats.org/officeDocument/2006/relationships/image" Target="../media/image-3-15.png"/><Relationship Id="rId16" Type="http://schemas.openxmlformats.org/officeDocument/2006/relationships/slideLayout" Target="../slideLayouts/slideLayout1.xml"/><Relationship Id="rId1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image" Target="../media/image-9-2.jpg"/><Relationship Id="rId3" Type="http://schemas.openxmlformats.org/officeDocument/2006/relationships/image" Target="../media/image-9-3.jpg"/><Relationship Id="rId4" Type="http://schemas.openxmlformats.org/officeDocument/2006/relationships/image" Target="../media/image-9-4.jpg"/><Relationship Id="rId5" Type="http://schemas.openxmlformats.org/officeDocument/2006/relationships/image" Target="../media/image-9-5.jpg"/><Relationship Id="rId6" Type="http://schemas.openxmlformats.org/officeDocument/2006/relationships/image" Target="../media/image-9-6.jpg"/><Relationship Id="rId7" Type="http://schemas.openxmlformats.org/officeDocument/2006/relationships/image" Target="../media/image-9-7.jp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image" Target="../media/image-10-2.jpg"/><Relationship Id="rId3" Type="http://schemas.openxmlformats.org/officeDocument/2006/relationships/image" Target="../media/image-10-3.jpg"/><Relationship Id="rId4" Type="http://schemas.openxmlformats.org/officeDocument/2006/relationships/image" Target="../media/image-10-4.jpg"/><Relationship Id="rId5" Type="http://schemas.openxmlformats.org/officeDocument/2006/relationships/image" Target="../media/image-10-5.jpg"/><Relationship Id="rId6" Type="http://schemas.openxmlformats.org/officeDocument/2006/relationships/image" Target="../media/image-10-6.jpg"/><Relationship Id="rId7" Type="http://schemas.openxmlformats.org/officeDocument/2006/relationships/image" Target="../media/image-10-7.jpg"/><Relationship Id="rId8" Type="http://schemas.openxmlformats.org/officeDocument/2006/relationships/image" Target="../media/image-10-8.jpg"/><Relationship Id="rId9" Type="http://schemas.openxmlformats.org/officeDocument/2006/relationships/image" Target="../media/image-10-9.jpg"/><Relationship Id="rId10" Type="http://schemas.openxmlformats.org/officeDocument/2006/relationships/image" Target="../media/image-10-10.jp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126480" y="731520"/>
            <a:ext cx="685800" cy="685800"/>
          </a:xfrm>
          <a:prstGeom prst="ellipse">
            <a:avLst/>
          </a:prstGeom>
          <a:solidFill>
            <a:srgbClr val="22B573"/>
          </a:solidFill>
          <a:ln w="12700">
            <a:solidFill>
              <a:srgbClr val="22B573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77356" y="882396"/>
            <a:ext cx="384048" cy="384048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6995160" y="731520"/>
            <a:ext cx="685800" cy="685800"/>
          </a:xfrm>
          <a:prstGeom prst="ellipse">
            <a:avLst/>
          </a:prstGeom>
          <a:solidFill>
            <a:srgbClr val="FF8A00"/>
          </a:solidFill>
          <a:ln w="12700">
            <a:solidFill>
              <a:srgbClr val="FF8A00"/>
            </a:solidFill>
            <a:prstDash val="solid"/>
          </a:ln>
        </p:spPr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46036" y="882396"/>
            <a:ext cx="384048" cy="384048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7863840" y="731520"/>
            <a:ext cx="685800" cy="685800"/>
          </a:xfrm>
          <a:prstGeom prst="ellipse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pic>
        <p:nvPicPr>
          <p:cNvPr id="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14716" y="882396"/>
            <a:ext cx="384048" cy="384048"/>
          </a:xfrm>
          <a:prstGeom prst="rect">
            <a:avLst/>
          </a:prstGeom>
        </p:spPr>
      </p:pic>
      <p:sp>
        <p:nvSpPr>
          <p:cNvPr id="8" name="Shape 3"/>
          <p:cNvSpPr/>
          <p:nvPr/>
        </p:nvSpPr>
        <p:spPr>
          <a:xfrm>
            <a:off x="6560820" y="1600200"/>
            <a:ext cx="685800" cy="685800"/>
          </a:xfrm>
          <a:prstGeom prst="ellipse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pic>
        <p:nvPicPr>
          <p:cNvPr id="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11696" y="1751076"/>
            <a:ext cx="384048" cy="384048"/>
          </a:xfrm>
          <a:prstGeom prst="rect">
            <a:avLst/>
          </a:prstGeom>
        </p:spPr>
      </p:pic>
      <p:sp>
        <p:nvSpPr>
          <p:cNvPr id="10" name="Shape 4"/>
          <p:cNvSpPr/>
          <p:nvPr/>
        </p:nvSpPr>
        <p:spPr>
          <a:xfrm>
            <a:off x="7429500" y="1600200"/>
            <a:ext cx="685800" cy="685800"/>
          </a:xfrm>
          <a:prstGeom prst="ellipse">
            <a:avLst/>
          </a:prstGeom>
          <a:solidFill>
            <a:srgbClr val="E63E62"/>
          </a:solidFill>
          <a:ln w="12700">
            <a:solidFill>
              <a:srgbClr val="E63E62"/>
            </a:solidFill>
            <a:prstDash val="solid"/>
          </a:ln>
        </p:spPr>
      </p:sp>
      <p:pic>
        <p:nvPicPr>
          <p:cNvPr id="1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80376" y="1751076"/>
            <a:ext cx="384048" cy="384048"/>
          </a:xfrm>
          <a:prstGeom prst="rect">
            <a:avLst/>
          </a:prstGeom>
        </p:spPr>
      </p:pic>
      <p:sp>
        <p:nvSpPr>
          <p:cNvPr id="12" name="Text 5"/>
          <p:cNvSpPr txBox="1"/>
          <p:nvPr/>
        </p:nvSpPr>
        <p:spPr>
          <a:xfrm>
            <a:off x="548640" y="1371600"/>
            <a:ext cx="5669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Проектирование ЛВС</a:t>
            </a:r>
            <a:endParaRPr lang="en-US" sz="3800" dirty="0"/>
          </a:p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офиса на 3 отдела</a:t>
            </a:r>
            <a:endParaRPr lang="en-US" sz="3800" dirty="0"/>
          </a:p>
        </p:txBody>
      </p:sp>
      <p:sp>
        <p:nvSpPr>
          <p:cNvPr id="13" name="Text 6"/>
          <p:cNvSpPr txBox="1"/>
          <p:nvPr/>
        </p:nvSpPr>
        <p:spPr>
          <a:xfrm>
            <a:off x="548640" y="2880360"/>
            <a:ext cx="5669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Топология, настройка в Cisco Packet Tracer и смета на оборудование</a:t>
            </a:r>
            <a:endParaRPr lang="en-US" sz="1600" dirty="0"/>
          </a:p>
        </p:txBody>
      </p:sp>
      <p:sp>
        <p:nvSpPr>
          <p:cNvPr id="14" name="Text 7"/>
          <p:cNvSpPr txBox="1"/>
          <p:nvPr/>
        </p:nvSpPr>
        <p:spPr>
          <a:xfrm>
            <a:off x="548640" y="42062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Выполнил: Калиберда Сергей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Задание проекта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04672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Малый офис: бухгалтерия, отдел продаж и IT-отдел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1874520" cy="3108960"/>
          </a:xfrm>
          <a:prstGeom prst="roundRect">
            <a:avLst>
              <a:gd name="adj" fmla="val 5854"/>
            </a:avLst>
          </a:prstGeom>
          <a:solidFill>
            <a:srgbClr val="F4F7FB"/>
          </a:solidFill>
          <a:ln w="12700">
            <a:solidFill>
              <a:srgbClr val="F4F7F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85800" y="1645920"/>
            <a:ext cx="685800" cy="685800"/>
          </a:xfrm>
          <a:prstGeom prst="ellipse">
            <a:avLst/>
          </a:prstGeom>
          <a:solidFill>
            <a:srgbClr val="E63E62"/>
          </a:solidFill>
          <a:ln w="12700">
            <a:solidFill>
              <a:srgbClr val="E63E62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6676" y="1796796"/>
            <a:ext cx="384048" cy="384048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685800" y="2514600"/>
            <a:ext cx="1463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Топология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685800" y="2926080"/>
            <a:ext cx="14630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Иерархическая звезда: маршрутизатор → ядро → 3 коммутатора отделов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2560320" y="1417320"/>
            <a:ext cx="1874520" cy="3108960"/>
          </a:xfrm>
          <a:prstGeom prst="roundRect">
            <a:avLst>
              <a:gd name="adj" fmla="val 5854"/>
            </a:avLst>
          </a:prstGeom>
          <a:solidFill>
            <a:srgbClr val="F4F7FB"/>
          </a:solidFill>
          <a:ln w="12700">
            <a:solidFill>
              <a:srgbClr val="F4F7F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2788920" y="1645920"/>
            <a:ext cx="685800" cy="685800"/>
          </a:xfrm>
          <a:prstGeom prst="ellipse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39796" y="1796796"/>
            <a:ext cx="384048" cy="384048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2788920" y="2514600"/>
            <a:ext cx="1463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Сегментация</a:t>
            </a:r>
            <a:endParaRPr lang="en-US" sz="1800" dirty="0"/>
          </a:p>
        </p:txBody>
      </p:sp>
      <p:sp>
        <p:nvSpPr>
          <p:cNvPr id="13" name="Text 9"/>
          <p:cNvSpPr txBox="1"/>
          <p:nvPr/>
        </p:nvSpPr>
        <p:spPr>
          <a:xfrm>
            <a:off x="2788920" y="2926080"/>
            <a:ext cx="14630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Каждый отдел в своей VLAN, серверы в отдельной VLAN 99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4663440" y="1417320"/>
            <a:ext cx="1874520" cy="3108960"/>
          </a:xfrm>
          <a:prstGeom prst="roundRect">
            <a:avLst>
              <a:gd name="adj" fmla="val 5854"/>
            </a:avLst>
          </a:prstGeom>
          <a:solidFill>
            <a:srgbClr val="F4F7FB"/>
          </a:solidFill>
          <a:ln w="12700">
            <a:solidFill>
              <a:srgbClr val="F4F7F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4892040" y="1645920"/>
            <a:ext cx="685800" cy="685800"/>
          </a:xfrm>
          <a:prstGeom prst="ellipse">
            <a:avLst/>
          </a:prstGeom>
          <a:solidFill>
            <a:srgbClr val="FF8A00"/>
          </a:solidFill>
          <a:ln w="12700">
            <a:solidFill>
              <a:srgbClr val="FF8A00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42916" y="1796796"/>
            <a:ext cx="384048" cy="384048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4892040" y="2514600"/>
            <a:ext cx="1463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Настройка</a:t>
            </a:r>
            <a:endParaRPr lang="en-US" sz="1800" dirty="0"/>
          </a:p>
        </p:txBody>
      </p:sp>
      <p:sp>
        <p:nvSpPr>
          <p:cNvPr id="18" name="Text 13"/>
          <p:cNvSpPr txBox="1"/>
          <p:nvPr/>
        </p:nvSpPr>
        <p:spPr>
          <a:xfrm>
            <a:off x="4892040" y="2926080"/>
            <a:ext cx="14630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Router-on-a-stick, DHCP для всех ПК, trunk-каналы, пароли</a:t>
            </a:r>
            <a:endParaRPr lang="en-US" sz="1300" dirty="0"/>
          </a:p>
        </p:txBody>
      </p:sp>
      <p:sp>
        <p:nvSpPr>
          <p:cNvPr id="19" name="Shape 14"/>
          <p:cNvSpPr/>
          <p:nvPr/>
        </p:nvSpPr>
        <p:spPr>
          <a:xfrm>
            <a:off x="6766560" y="1417320"/>
            <a:ext cx="1874520" cy="3108960"/>
          </a:xfrm>
          <a:prstGeom prst="roundRect">
            <a:avLst>
              <a:gd name="adj" fmla="val 5854"/>
            </a:avLst>
          </a:prstGeom>
          <a:solidFill>
            <a:srgbClr val="F4F7FB"/>
          </a:solidFill>
          <a:ln w="12700">
            <a:solidFill>
              <a:srgbClr val="F4F7F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6995160" y="1645920"/>
            <a:ext cx="685800" cy="685800"/>
          </a:xfrm>
          <a:prstGeom prst="ellipse">
            <a:avLst/>
          </a:prstGeom>
          <a:solidFill>
            <a:srgbClr val="22B573"/>
          </a:solidFill>
          <a:ln w="12700">
            <a:solidFill>
              <a:srgbClr val="22B573"/>
            </a:solidFill>
            <a:prstDash val="solid"/>
          </a:ln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46036" y="1796796"/>
            <a:ext cx="384048" cy="384048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6995160" y="2514600"/>
            <a:ext cx="1463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Закупка</a:t>
            </a:r>
            <a:endParaRPr lang="en-US" sz="1800" dirty="0"/>
          </a:p>
        </p:txBody>
      </p:sp>
      <p:sp>
        <p:nvSpPr>
          <p:cNvPr id="23" name="Text 17"/>
          <p:cNvSpPr txBox="1"/>
          <p:nvPr/>
        </p:nvSpPr>
        <p:spPr>
          <a:xfrm>
            <a:off x="6995160" y="2926080"/>
            <a:ext cx="14630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Смета оборудования и расходных материалов с ценами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Топология сети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0" y="1234440"/>
            <a:ext cx="914" cy="914400"/>
          </a:xfrm>
          <a:prstGeom prst="line">
            <a:avLst/>
          </a:prstGeom>
          <a:noFill/>
          <a:ln w="38100">
            <a:solidFill>
              <a:srgbClr val="0B1F3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0" y="2148840"/>
            <a:ext cx="2377440" cy="914"/>
          </a:xfrm>
          <a:prstGeom prst="line">
            <a:avLst/>
          </a:prstGeom>
          <a:noFill/>
          <a:ln w="25400">
            <a:solidFill>
              <a:srgbClr val="00B4D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 flipH="1">
            <a:off x="1737360" y="2148840"/>
            <a:ext cx="2834640" cy="960120"/>
          </a:xfrm>
          <a:prstGeom prst="line">
            <a:avLst/>
          </a:prstGeom>
          <a:noFill/>
          <a:ln w="31750">
            <a:solidFill>
              <a:srgbClr val="0B1F3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0" y="2148840"/>
            <a:ext cx="914" cy="960120"/>
          </a:xfrm>
          <a:prstGeom prst="line">
            <a:avLst/>
          </a:prstGeom>
          <a:noFill/>
          <a:ln w="31750">
            <a:solidFill>
              <a:srgbClr val="0B1F3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0" y="2148840"/>
            <a:ext cx="2834640" cy="960120"/>
          </a:xfrm>
          <a:prstGeom prst="line">
            <a:avLst/>
          </a:prstGeom>
          <a:noFill/>
          <a:ln w="31750">
            <a:solidFill>
              <a:srgbClr val="0B1F3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H="1">
            <a:off x="1051560" y="3108960"/>
            <a:ext cx="685800" cy="1024128"/>
          </a:xfrm>
          <a:prstGeom prst="line">
            <a:avLst/>
          </a:prstGeom>
          <a:noFill/>
          <a:ln w="19050">
            <a:solidFill>
              <a:srgbClr val="22B57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37360" y="3108960"/>
            <a:ext cx="914" cy="1024128"/>
          </a:xfrm>
          <a:prstGeom prst="line">
            <a:avLst/>
          </a:prstGeom>
          <a:noFill/>
          <a:ln w="19050">
            <a:solidFill>
              <a:srgbClr val="22B57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737360" y="3108960"/>
            <a:ext cx="685800" cy="1024128"/>
          </a:xfrm>
          <a:prstGeom prst="line">
            <a:avLst/>
          </a:prstGeom>
          <a:noFill/>
          <a:ln w="19050">
            <a:solidFill>
              <a:srgbClr val="22B57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flipH="1">
            <a:off x="3886200" y="3108960"/>
            <a:ext cx="685800" cy="1024128"/>
          </a:xfrm>
          <a:prstGeom prst="line">
            <a:avLst/>
          </a:prstGeom>
          <a:noFill/>
          <a:ln w="19050">
            <a:solidFill>
              <a:srgbClr val="FF8A0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72000" y="3108960"/>
            <a:ext cx="914" cy="1024128"/>
          </a:xfrm>
          <a:prstGeom prst="line">
            <a:avLst/>
          </a:prstGeom>
          <a:noFill/>
          <a:ln w="19050">
            <a:solidFill>
              <a:srgbClr val="FF8A0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0" y="3108960"/>
            <a:ext cx="685800" cy="1024128"/>
          </a:xfrm>
          <a:prstGeom prst="line">
            <a:avLst/>
          </a:prstGeom>
          <a:noFill/>
          <a:ln w="19050">
            <a:solidFill>
              <a:srgbClr val="FF8A0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 flipH="1">
            <a:off x="6720840" y="3108960"/>
            <a:ext cx="685800" cy="1024128"/>
          </a:xfrm>
          <a:prstGeom prst="line">
            <a:avLst/>
          </a:prstGeom>
          <a:noFill/>
          <a:ln w="19050">
            <a:solidFill>
              <a:srgbClr val="8B5CF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406640" y="3108960"/>
            <a:ext cx="914" cy="1024128"/>
          </a:xfrm>
          <a:prstGeom prst="line">
            <a:avLst/>
          </a:prstGeom>
          <a:noFill/>
          <a:ln w="19050">
            <a:solidFill>
              <a:srgbClr val="8B5CF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406640" y="3108960"/>
            <a:ext cx="685800" cy="1024128"/>
          </a:xfrm>
          <a:prstGeom prst="line">
            <a:avLst/>
          </a:prstGeom>
          <a:noFill/>
          <a:ln w="19050">
            <a:solidFill>
              <a:srgbClr val="8B5CF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288536" y="960120"/>
            <a:ext cx="566928" cy="566928"/>
          </a:xfrm>
          <a:prstGeom prst="ellipse">
            <a:avLst/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</p:sp>
      <p:pic>
        <p:nvPicPr>
          <p:cNvPr id="1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413260" y="1084844"/>
            <a:ext cx="317480" cy="317480"/>
          </a:xfrm>
          <a:prstGeom prst="rect">
            <a:avLst/>
          </a:prstGeom>
        </p:spPr>
      </p:pic>
      <p:sp>
        <p:nvSpPr>
          <p:cNvPr id="19" name="Text 16"/>
          <p:cNvSpPr txBox="1"/>
          <p:nvPr/>
        </p:nvSpPr>
        <p:spPr>
          <a:xfrm>
            <a:off x="4928616" y="1042416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R1 — Cisco 2911</a:t>
            </a:r>
            <a:endParaRPr lang="en-US" sz="1100" dirty="0"/>
          </a:p>
          <a:p>
            <a:pPr algn="l" indent="0" marL="0">
              <a:buNone/>
            </a:pPr>
            <a:r>
              <a:rPr lang="en-US" sz="90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G0/0.10/.20/.30/.99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288536" y="1874520"/>
            <a:ext cx="566928" cy="566928"/>
          </a:xfrm>
          <a:prstGeom prst="ellipse">
            <a:avLst/>
          </a:prstGeom>
          <a:solidFill>
            <a:srgbClr val="E63E62"/>
          </a:solidFill>
          <a:ln w="12700">
            <a:solidFill>
              <a:srgbClr val="E63E62"/>
            </a:solidFill>
            <a:prstDash val="solid"/>
          </a:ln>
        </p:spPr>
      </p:sp>
      <p:pic>
        <p:nvPicPr>
          <p:cNvPr id="2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13260" y="1999244"/>
            <a:ext cx="317480" cy="317480"/>
          </a:xfrm>
          <a:prstGeom prst="rect">
            <a:avLst/>
          </a:prstGeom>
        </p:spPr>
      </p:pic>
      <p:sp>
        <p:nvSpPr>
          <p:cNvPr id="22" name="Text 18"/>
          <p:cNvSpPr txBox="1"/>
          <p:nvPr/>
        </p:nvSpPr>
        <p:spPr>
          <a:xfrm>
            <a:off x="2660904" y="1956816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SW-CORE</a:t>
            </a:r>
            <a:endParaRPr lang="en-US" sz="1100" dirty="0"/>
          </a:p>
          <a:p>
            <a:pPr algn="r" indent="0" marL="0">
              <a:buNone/>
            </a:pPr>
            <a:r>
              <a:rPr lang="en-US" sz="90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Cisco 2960</a:t>
            </a:r>
            <a:endParaRPr lang="en-US" sz="1100" dirty="0"/>
          </a:p>
        </p:txBody>
      </p:sp>
      <p:sp>
        <p:nvSpPr>
          <p:cNvPr id="23" name="Shape 19"/>
          <p:cNvSpPr/>
          <p:nvPr/>
        </p:nvSpPr>
        <p:spPr>
          <a:xfrm>
            <a:off x="6665976" y="1874520"/>
            <a:ext cx="566928" cy="566928"/>
          </a:xfrm>
          <a:prstGeom prst="ellipse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pic>
        <p:nvPicPr>
          <p:cNvPr id="2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90700" y="1999244"/>
            <a:ext cx="317480" cy="317480"/>
          </a:xfrm>
          <a:prstGeom prst="rect">
            <a:avLst/>
          </a:prstGeom>
        </p:spPr>
      </p:pic>
      <p:sp>
        <p:nvSpPr>
          <p:cNvPr id="25" name="Text 20"/>
          <p:cNvSpPr txBox="1"/>
          <p:nvPr/>
        </p:nvSpPr>
        <p:spPr>
          <a:xfrm>
            <a:off x="6217920" y="2459736"/>
            <a:ext cx="1463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</a:t>
            </a:r>
            <a:endParaRPr lang="en-US" sz="11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192.168.99.10</a:t>
            </a:r>
            <a:endParaRPr lang="en-US" sz="1100" dirty="0"/>
          </a:p>
        </p:txBody>
      </p:sp>
      <p:sp>
        <p:nvSpPr>
          <p:cNvPr id="26" name="Shape 21"/>
          <p:cNvSpPr/>
          <p:nvPr/>
        </p:nvSpPr>
        <p:spPr>
          <a:xfrm>
            <a:off x="1453896" y="2834640"/>
            <a:ext cx="566928" cy="566928"/>
          </a:xfrm>
          <a:prstGeom prst="ellipse">
            <a:avLst/>
          </a:prstGeom>
          <a:solidFill>
            <a:srgbClr val="22B573"/>
          </a:solidFill>
          <a:ln w="12700">
            <a:solidFill>
              <a:srgbClr val="22B573"/>
            </a:solidFill>
            <a:prstDash val="solid"/>
          </a:ln>
        </p:spPr>
      </p:sp>
      <p:pic>
        <p:nvPicPr>
          <p:cNvPr id="2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78620" y="2959364"/>
            <a:ext cx="317480" cy="317480"/>
          </a:xfrm>
          <a:prstGeom prst="rect">
            <a:avLst/>
          </a:prstGeom>
        </p:spPr>
      </p:pic>
      <p:sp>
        <p:nvSpPr>
          <p:cNvPr id="28" name="Text 22"/>
          <p:cNvSpPr txBox="1"/>
          <p:nvPr/>
        </p:nvSpPr>
        <p:spPr>
          <a:xfrm>
            <a:off x="-173736" y="2916936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SW-BUH</a:t>
            </a:r>
            <a:endParaRPr lang="en-US" sz="1100" dirty="0"/>
          </a:p>
          <a:p>
            <a:pPr algn="r" indent="0" marL="0">
              <a:buNone/>
            </a:pPr>
            <a:r>
              <a:rPr lang="en-US" sz="90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VLAN 10</a:t>
            </a:r>
            <a:endParaRPr lang="en-US" sz="1100" dirty="0"/>
          </a:p>
        </p:txBody>
      </p:sp>
      <p:sp>
        <p:nvSpPr>
          <p:cNvPr id="29" name="Shape 23"/>
          <p:cNvSpPr/>
          <p:nvPr/>
        </p:nvSpPr>
        <p:spPr>
          <a:xfrm>
            <a:off x="850392" y="3931920"/>
            <a:ext cx="402336" cy="402336"/>
          </a:xfrm>
          <a:prstGeom prst="ellipse">
            <a:avLst/>
          </a:prstGeom>
          <a:solidFill>
            <a:srgbClr val="22B573"/>
          </a:solidFill>
          <a:ln w="12700">
            <a:solidFill>
              <a:srgbClr val="22B573"/>
            </a:solidFill>
            <a:prstDash val="solid"/>
          </a:ln>
        </p:spPr>
      </p:sp>
      <p:pic>
        <p:nvPicPr>
          <p:cNvPr id="3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8906" y="4020434"/>
            <a:ext cx="225308" cy="225308"/>
          </a:xfrm>
          <a:prstGeom prst="rect">
            <a:avLst/>
          </a:prstGeom>
        </p:spPr>
      </p:pic>
      <p:sp>
        <p:nvSpPr>
          <p:cNvPr id="31" name="Text 24"/>
          <p:cNvSpPr txBox="1"/>
          <p:nvPr/>
        </p:nvSpPr>
        <p:spPr>
          <a:xfrm>
            <a:off x="731520" y="4352544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PC1</a:t>
            </a:r>
            <a:endParaRPr lang="en-US" sz="900" dirty="0"/>
          </a:p>
        </p:txBody>
      </p:sp>
      <p:sp>
        <p:nvSpPr>
          <p:cNvPr id="32" name="Shape 25"/>
          <p:cNvSpPr/>
          <p:nvPr/>
        </p:nvSpPr>
        <p:spPr>
          <a:xfrm>
            <a:off x="1536192" y="3931920"/>
            <a:ext cx="402336" cy="402336"/>
          </a:xfrm>
          <a:prstGeom prst="ellipse">
            <a:avLst/>
          </a:prstGeom>
          <a:solidFill>
            <a:srgbClr val="22B573"/>
          </a:solidFill>
          <a:ln w="12700">
            <a:solidFill>
              <a:srgbClr val="22B573"/>
            </a:solidFill>
            <a:prstDash val="solid"/>
          </a:ln>
        </p:spPr>
      </p:sp>
      <p:pic>
        <p:nvPicPr>
          <p:cNvPr id="33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624706" y="4020434"/>
            <a:ext cx="225308" cy="225308"/>
          </a:xfrm>
          <a:prstGeom prst="rect">
            <a:avLst/>
          </a:prstGeom>
        </p:spPr>
      </p:pic>
      <p:sp>
        <p:nvSpPr>
          <p:cNvPr id="34" name="Text 26"/>
          <p:cNvSpPr txBox="1"/>
          <p:nvPr/>
        </p:nvSpPr>
        <p:spPr>
          <a:xfrm>
            <a:off x="1417320" y="4352544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PC2</a:t>
            </a:r>
            <a:endParaRPr lang="en-US" sz="900" dirty="0"/>
          </a:p>
        </p:txBody>
      </p:sp>
      <p:sp>
        <p:nvSpPr>
          <p:cNvPr id="35" name="Shape 27"/>
          <p:cNvSpPr/>
          <p:nvPr/>
        </p:nvSpPr>
        <p:spPr>
          <a:xfrm>
            <a:off x="2221992" y="3931920"/>
            <a:ext cx="402336" cy="402336"/>
          </a:xfrm>
          <a:prstGeom prst="ellipse">
            <a:avLst/>
          </a:prstGeom>
          <a:solidFill>
            <a:srgbClr val="22B573"/>
          </a:solidFill>
          <a:ln w="12700">
            <a:solidFill>
              <a:srgbClr val="22B573"/>
            </a:solidFill>
            <a:prstDash val="solid"/>
          </a:ln>
        </p:spPr>
      </p:sp>
      <p:pic>
        <p:nvPicPr>
          <p:cNvPr id="36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310506" y="4020434"/>
            <a:ext cx="225308" cy="225308"/>
          </a:xfrm>
          <a:prstGeom prst="rect">
            <a:avLst/>
          </a:prstGeom>
        </p:spPr>
      </p:pic>
      <p:sp>
        <p:nvSpPr>
          <p:cNvPr id="37" name="Text 28"/>
          <p:cNvSpPr txBox="1"/>
          <p:nvPr/>
        </p:nvSpPr>
        <p:spPr>
          <a:xfrm>
            <a:off x="2103120" y="4352544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PC3</a:t>
            </a:r>
            <a:endParaRPr lang="en-US" sz="900" dirty="0"/>
          </a:p>
        </p:txBody>
      </p:sp>
      <p:sp>
        <p:nvSpPr>
          <p:cNvPr id="38" name="Shape 29"/>
          <p:cNvSpPr/>
          <p:nvPr/>
        </p:nvSpPr>
        <p:spPr>
          <a:xfrm>
            <a:off x="4288536" y="2834640"/>
            <a:ext cx="566928" cy="566928"/>
          </a:xfrm>
          <a:prstGeom prst="ellipse">
            <a:avLst/>
          </a:prstGeom>
          <a:solidFill>
            <a:srgbClr val="FF8A00"/>
          </a:solidFill>
          <a:ln w="12700">
            <a:solidFill>
              <a:srgbClr val="FF8A00"/>
            </a:solidFill>
            <a:prstDash val="solid"/>
          </a:ln>
        </p:spPr>
      </p:sp>
      <p:pic>
        <p:nvPicPr>
          <p:cNvPr id="39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413260" y="2959364"/>
            <a:ext cx="317480" cy="317480"/>
          </a:xfrm>
          <a:prstGeom prst="rect">
            <a:avLst/>
          </a:prstGeom>
        </p:spPr>
      </p:pic>
      <p:sp>
        <p:nvSpPr>
          <p:cNvPr id="40" name="Text 30"/>
          <p:cNvSpPr txBox="1"/>
          <p:nvPr/>
        </p:nvSpPr>
        <p:spPr>
          <a:xfrm>
            <a:off x="2660904" y="2916936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SW-SALES</a:t>
            </a:r>
            <a:endParaRPr lang="en-US" sz="1100" dirty="0"/>
          </a:p>
          <a:p>
            <a:pPr algn="r" indent="0" marL="0">
              <a:buNone/>
            </a:pPr>
            <a:r>
              <a:rPr lang="en-US" sz="90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VLAN 20</a:t>
            </a:r>
            <a:endParaRPr lang="en-US" sz="1100" dirty="0"/>
          </a:p>
        </p:txBody>
      </p:sp>
      <p:sp>
        <p:nvSpPr>
          <p:cNvPr id="41" name="Shape 31"/>
          <p:cNvSpPr/>
          <p:nvPr/>
        </p:nvSpPr>
        <p:spPr>
          <a:xfrm>
            <a:off x="3685032" y="3931920"/>
            <a:ext cx="402336" cy="402336"/>
          </a:xfrm>
          <a:prstGeom prst="ellipse">
            <a:avLst/>
          </a:prstGeom>
          <a:solidFill>
            <a:srgbClr val="FF8A00"/>
          </a:solidFill>
          <a:ln w="12700">
            <a:solidFill>
              <a:srgbClr val="FF8A00"/>
            </a:solidFill>
            <a:prstDash val="solid"/>
          </a:ln>
        </p:spPr>
      </p:sp>
      <p:pic>
        <p:nvPicPr>
          <p:cNvPr id="42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773546" y="4020434"/>
            <a:ext cx="225308" cy="225308"/>
          </a:xfrm>
          <a:prstGeom prst="rect">
            <a:avLst/>
          </a:prstGeom>
        </p:spPr>
      </p:pic>
      <p:sp>
        <p:nvSpPr>
          <p:cNvPr id="43" name="Text 32"/>
          <p:cNvSpPr txBox="1"/>
          <p:nvPr/>
        </p:nvSpPr>
        <p:spPr>
          <a:xfrm>
            <a:off x="3566160" y="4352544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PC4</a:t>
            </a:r>
            <a:endParaRPr lang="en-US" sz="900" dirty="0"/>
          </a:p>
        </p:txBody>
      </p:sp>
      <p:sp>
        <p:nvSpPr>
          <p:cNvPr id="44" name="Shape 33"/>
          <p:cNvSpPr/>
          <p:nvPr/>
        </p:nvSpPr>
        <p:spPr>
          <a:xfrm>
            <a:off x="4370832" y="3931920"/>
            <a:ext cx="402336" cy="402336"/>
          </a:xfrm>
          <a:prstGeom prst="ellipse">
            <a:avLst/>
          </a:prstGeom>
          <a:solidFill>
            <a:srgbClr val="FF8A00"/>
          </a:solidFill>
          <a:ln w="12700">
            <a:solidFill>
              <a:srgbClr val="FF8A00"/>
            </a:solidFill>
            <a:prstDash val="solid"/>
          </a:ln>
        </p:spPr>
      </p:sp>
      <p:pic>
        <p:nvPicPr>
          <p:cNvPr id="45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459346" y="4020434"/>
            <a:ext cx="225308" cy="225308"/>
          </a:xfrm>
          <a:prstGeom prst="rect">
            <a:avLst/>
          </a:prstGeom>
        </p:spPr>
      </p:pic>
      <p:sp>
        <p:nvSpPr>
          <p:cNvPr id="46" name="Text 34"/>
          <p:cNvSpPr txBox="1"/>
          <p:nvPr/>
        </p:nvSpPr>
        <p:spPr>
          <a:xfrm>
            <a:off x="4251960" y="4352544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PC5</a:t>
            </a:r>
            <a:endParaRPr lang="en-US" sz="900" dirty="0"/>
          </a:p>
        </p:txBody>
      </p:sp>
      <p:sp>
        <p:nvSpPr>
          <p:cNvPr id="47" name="Shape 35"/>
          <p:cNvSpPr/>
          <p:nvPr/>
        </p:nvSpPr>
        <p:spPr>
          <a:xfrm>
            <a:off x="5056632" y="3931920"/>
            <a:ext cx="402336" cy="402336"/>
          </a:xfrm>
          <a:prstGeom prst="ellipse">
            <a:avLst/>
          </a:prstGeom>
          <a:solidFill>
            <a:srgbClr val="FF8A00"/>
          </a:solidFill>
          <a:ln w="12700">
            <a:solidFill>
              <a:srgbClr val="FF8A00"/>
            </a:solidFill>
            <a:prstDash val="solid"/>
          </a:ln>
        </p:spPr>
      </p:sp>
      <p:pic>
        <p:nvPicPr>
          <p:cNvPr id="48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145146" y="4020434"/>
            <a:ext cx="225308" cy="225308"/>
          </a:xfrm>
          <a:prstGeom prst="rect">
            <a:avLst/>
          </a:prstGeom>
        </p:spPr>
      </p:pic>
      <p:sp>
        <p:nvSpPr>
          <p:cNvPr id="49" name="Text 36"/>
          <p:cNvSpPr txBox="1"/>
          <p:nvPr/>
        </p:nvSpPr>
        <p:spPr>
          <a:xfrm>
            <a:off x="4937760" y="4352544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PC6</a:t>
            </a:r>
            <a:endParaRPr lang="en-US" sz="900" dirty="0"/>
          </a:p>
        </p:txBody>
      </p:sp>
      <p:sp>
        <p:nvSpPr>
          <p:cNvPr id="50" name="Shape 37"/>
          <p:cNvSpPr/>
          <p:nvPr/>
        </p:nvSpPr>
        <p:spPr>
          <a:xfrm>
            <a:off x="7123176" y="2834640"/>
            <a:ext cx="566928" cy="566928"/>
          </a:xfrm>
          <a:prstGeom prst="ellipse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pic>
        <p:nvPicPr>
          <p:cNvPr id="51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247900" y="2959364"/>
            <a:ext cx="317480" cy="317480"/>
          </a:xfrm>
          <a:prstGeom prst="rect">
            <a:avLst/>
          </a:prstGeom>
        </p:spPr>
      </p:pic>
      <p:sp>
        <p:nvSpPr>
          <p:cNvPr id="52" name="Text 38"/>
          <p:cNvSpPr txBox="1"/>
          <p:nvPr/>
        </p:nvSpPr>
        <p:spPr>
          <a:xfrm>
            <a:off x="7763256" y="2916936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SW-IT</a:t>
            </a:r>
            <a:endParaRPr lang="en-US" sz="1100" dirty="0"/>
          </a:p>
          <a:p>
            <a:pPr algn="l" indent="0" marL="0">
              <a:buNone/>
            </a:pPr>
            <a:r>
              <a:rPr lang="en-US" sz="90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VLAN 30</a:t>
            </a:r>
            <a:endParaRPr lang="en-US" sz="1100" dirty="0"/>
          </a:p>
        </p:txBody>
      </p:sp>
      <p:sp>
        <p:nvSpPr>
          <p:cNvPr id="53" name="Shape 39"/>
          <p:cNvSpPr/>
          <p:nvPr/>
        </p:nvSpPr>
        <p:spPr>
          <a:xfrm>
            <a:off x="6519672" y="3931920"/>
            <a:ext cx="402336" cy="402336"/>
          </a:xfrm>
          <a:prstGeom prst="ellipse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pic>
        <p:nvPicPr>
          <p:cNvPr id="54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608186" y="4020434"/>
            <a:ext cx="225308" cy="225308"/>
          </a:xfrm>
          <a:prstGeom prst="rect">
            <a:avLst/>
          </a:prstGeom>
        </p:spPr>
      </p:pic>
      <p:sp>
        <p:nvSpPr>
          <p:cNvPr id="55" name="Text 40"/>
          <p:cNvSpPr txBox="1"/>
          <p:nvPr/>
        </p:nvSpPr>
        <p:spPr>
          <a:xfrm>
            <a:off x="6400800" y="4352544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PC7</a:t>
            </a:r>
            <a:endParaRPr lang="en-US" sz="900" dirty="0"/>
          </a:p>
        </p:txBody>
      </p:sp>
      <p:sp>
        <p:nvSpPr>
          <p:cNvPr id="56" name="Shape 41"/>
          <p:cNvSpPr/>
          <p:nvPr/>
        </p:nvSpPr>
        <p:spPr>
          <a:xfrm>
            <a:off x="7205472" y="3931920"/>
            <a:ext cx="402336" cy="402336"/>
          </a:xfrm>
          <a:prstGeom prst="ellipse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pic>
        <p:nvPicPr>
          <p:cNvPr id="57" name="Image 13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293986" y="4020434"/>
            <a:ext cx="225308" cy="225308"/>
          </a:xfrm>
          <a:prstGeom prst="rect">
            <a:avLst/>
          </a:prstGeom>
        </p:spPr>
      </p:pic>
      <p:sp>
        <p:nvSpPr>
          <p:cNvPr id="58" name="Text 42"/>
          <p:cNvSpPr txBox="1"/>
          <p:nvPr/>
        </p:nvSpPr>
        <p:spPr>
          <a:xfrm>
            <a:off x="7086600" y="4352544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PC8</a:t>
            </a:r>
            <a:endParaRPr lang="en-US" sz="900" dirty="0"/>
          </a:p>
        </p:txBody>
      </p:sp>
      <p:sp>
        <p:nvSpPr>
          <p:cNvPr id="59" name="Shape 43"/>
          <p:cNvSpPr/>
          <p:nvPr/>
        </p:nvSpPr>
        <p:spPr>
          <a:xfrm>
            <a:off x="7891272" y="3931920"/>
            <a:ext cx="402336" cy="402336"/>
          </a:xfrm>
          <a:prstGeom prst="ellipse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pic>
        <p:nvPicPr>
          <p:cNvPr id="60" name="Image 14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7979786" y="4020434"/>
            <a:ext cx="225308" cy="225308"/>
          </a:xfrm>
          <a:prstGeom prst="rect">
            <a:avLst/>
          </a:prstGeom>
        </p:spPr>
      </p:pic>
      <p:sp>
        <p:nvSpPr>
          <p:cNvPr id="61" name="Text 44"/>
          <p:cNvSpPr txBox="1"/>
          <p:nvPr/>
        </p:nvSpPr>
        <p:spPr>
          <a:xfrm>
            <a:off x="7772400" y="4352544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PC9</a:t>
            </a:r>
            <a:endParaRPr lang="en-US" sz="900" dirty="0"/>
          </a:p>
        </p:txBody>
      </p:sp>
      <p:sp>
        <p:nvSpPr>
          <p:cNvPr id="62" name="Shape 45"/>
          <p:cNvSpPr/>
          <p:nvPr/>
        </p:nvSpPr>
        <p:spPr>
          <a:xfrm>
            <a:off x="457200" y="1097280"/>
            <a:ext cx="164592" cy="164592"/>
          </a:xfrm>
          <a:prstGeom prst="ellipse">
            <a:avLst/>
          </a:prstGeom>
          <a:solidFill>
            <a:srgbClr val="22B573"/>
          </a:solidFill>
          <a:ln w="12700">
            <a:solidFill>
              <a:srgbClr val="22B573"/>
            </a:solidFill>
            <a:prstDash val="solid"/>
          </a:ln>
        </p:spPr>
      </p:sp>
      <p:sp>
        <p:nvSpPr>
          <p:cNvPr id="63" name="Text 46"/>
          <p:cNvSpPr txBox="1"/>
          <p:nvPr/>
        </p:nvSpPr>
        <p:spPr>
          <a:xfrm>
            <a:off x="685800" y="1033272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Бухгалтерия</a:t>
            </a:r>
            <a:endParaRPr lang="en-US" sz="1100" dirty="0"/>
          </a:p>
        </p:txBody>
      </p:sp>
      <p:sp>
        <p:nvSpPr>
          <p:cNvPr id="64" name="Shape 47"/>
          <p:cNvSpPr/>
          <p:nvPr/>
        </p:nvSpPr>
        <p:spPr>
          <a:xfrm>
            <a:off x="457200" y="1389888"/>
            <a:ext cx="164592" cy="164592"/>
          </a:xfrm>
          <a:prstGeom prst="ellipse">
            <a:avLst/>
          </a:prstGeom>
          <a:solidFill>
            <a:srgbClr val="FF8A00"/>
          </a:solidFill>
          <a:ln w="12700">
            <a:solidFill>
              <a:srgbClr val="FF8A00"/>
            </a:solidFill>
            <a:prstDash val="solid"/>
          </a:ln>
        </p:spPr>
      </p:sp>
      <p:sp>
        <p:nvSpPr>
          <p:cNvPr id="65" name="Text 48"/>
          <p:cNvSpPr txBox="1"/>
          <p:nvPr/>
        </p:nvSpPr>
        <p:spPr>
          <a:xfrm>
            <a:off x="685800" y="132588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Продажи</a:t>
            </a:r>
            <a:endParaRPr lang="en-US" sz="1100" dirty="0"/>
          </a:p>
        </p:txBody>
      </p:sp>
      <p:sp>
        <p:nvSpPr>
          <p:cNvPr id="66" name="Shape 49"/>
          <p:cNvSpPr/>
          <p:nvPr/>
        </p:nvSpPr>
        <p:spPr>
          <a:xfrm>
            <a:off x="457200" y="1682496"/>
            <a:ext cx="164592" cy="164592"/>
          </a:xfrm>
          <a:prstGeom prst="ellipse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67" name="Text 50"/>
          <p:cNvSpPr txBox="1"/>
          <p:nvPr/>
        </p:nvSpPr>
        <p:spPr>
          <a:xfrm>
            <a:off x="685800" y="161848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IT-отдел</a:t>
            </a:r>
            <a:endParaRPr lang="en-US" sz="1100" dirty="0"/>
          </a:p>
        </p:txBody>
      </p:sp>
      <p:sp>
        <p:nvSpPr>
          <p:cNvPr id="68" name="Shape 51"/>
          <p:cNvSpPr/>
          <p:nvPr/>
        </p:nvSpPr>
        <p:spPr>
          <a:xfrm>
            <a:off x="457200" y="1975104"/>
            <a:ext cx="164592" cy="164592"/>
          </a:xfrm>
          <a:prstGeom prst="ellipse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69" name="Text 52"/>
          <p:cNvSpPr txBox="1"/>
          <p:nvPr/>
        </p:nvSpPr>
        <p:spPr>
          <a:xfrm>
            <a:off x="685800" y="1911096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Серверы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Топология в Cisco Packet Tracer</a:t>
            </a:r>
            <a:endParaRPr lang="en-US" sz="3000" dirty="0"/>
          </a:p>
        </p:txBody>
      </p:sp>
      <p:pic>
        <p:nvPicPr>
          <p:cNvPr id="3" name="Image 0" descr="/Users/sergei/Desktop/LAN_Project/topolog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51560"/>
            <a:ext cx="8229600" cy="2545597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VLAN и план IP-адресации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04672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Маска /24 (255.255.255.0) во всех сетях, адреса ПК выдаёт DHCP на R1</a:t>
            </a:r>
            <a:endParaRPr lang="en-US" sz="14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71600"/>
          <a:ext cx="822960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1417320"/>
                <a:gridCol w="1325880"/>
                <a:gridCol w="1325880"/>
                <a:gridCol w="1325880"/>
                <a:gridCol w="210312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VLAN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Отдел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Сеть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Шлюз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DHCP-диапазон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Устройства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B57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Бухгалтерия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192.168.10.0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192.168.10.1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.11 – .254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PC1–PC3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8A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Отдел продаж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192.168.20.0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192.168.20.1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.11 – .254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PC4–PC6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B5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IT-отдел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192.168.30.0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192.168.30.1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.11 – .254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PC7–PC9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4D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Серверы / упр.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192.168.99.0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192.168.99.1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статика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SERVER .10, коммутаторы .2–.5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B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457200" y="38862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Зачем VLAN: </a:t>
            </a:r>
            <a:pPr indent="0" marL="0">
              <a:buNone/>
            </a:pPr>
            <a:r>
              <a:rPr lang="en-US" sz="13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отделы изолированы на канальном уровне, широковещательный трафик не выходит за пределы отдела, а доступ между отделами контролирует маршрутизатор.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Схема подключения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04672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Все соединения — медный прямой кабель (Copper Straight-Through)</a:t>
            </a:r>
            <a:endParaRPr lang="en-US" sz="14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512064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005840"/>
                <a:gridCol w="1737360"/>
                <a:gridCol w="100584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Устройство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Порт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Подключено к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Порт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B1F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G0/0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SW-CORE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G0/1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E63E6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SW-CORE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Fa0/1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SW-BUH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Fa0/24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E63E6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SW-CORE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Fa0/3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SW-SALES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Fa0/24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E63E6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SW-CORE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Fa0/5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SW-IT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Fa0/24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E63E6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SW-CORE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Fa0/13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SERVER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2B5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SW-BUH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Fa0/1, 3, 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PC1–PC3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8A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SW-SALES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Fa0/1, 3, 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PC4–PC6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8B5CF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SW-IT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Fa0/1, 3, 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PC7–PC9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6035040" y="1280160"/>
            <a:ext cx="2651760" cy="914400"/>
          </a:xfrm>
          <a:prstGeom prst="roundRect">
            <a:avLst>
              <a:gd name="adj" fmla="val 10000"/>
            </a:avLst>
          </a:prstGeom>
          <a:solidFill>
            <a:srgbClr val="F4F7FB"/>
          </a:solidFill>
          <a:ln w="12700">
            <a:solidFill>
              <a:srgbClr val="F4F7FB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217920" y="1325880"/>
            <a:ext cx="1005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E63E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</a:t>
            </a:r>
            <a:endParaRPr lang="en-US" sz="4000" dirty="0"/>
          </a:p>
        </p:txBody>
      </p:sp>
      <p:sp>
        <p:nvSpPr>
          <p:cNvPr id="7" name="Text 4"/>
          <p:cNvSpPr txBox="1"/>
          <p:nvPr/>
        </p:nvSpPr>
        <p:spPr>
          <a:xfrm>
            <a:off x="7223760" y="1325880"/>
            <a:ext cx="1371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устройств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6035040" y="2377440"/>
            <a:ext cx="2651760" cy="914400"/>
          </a:xfrm>
          <a:prstGeom prst="roundRect">
            <a:avLst>
              <a:gd name="adj" fmla="val 10000"/>
            </a:avLst>
          </a:prstGeom>
          <a:solidFill>
            <a:srgbClr val="F4F7FB"/>
          </a:solidFill>
          <a:ln w="12700">
            <a:solidFill>
              <a:srgbClr val="F4F7FB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217920" y="2423160"/>
            <a:ext cx="1005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8A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</a:t>
            </a:r>
            <a:endParaRPr lang="en-US" sz="4000" dirty="0"/>
          </a:p>
        </p:txBody>
      </p:sp>
      <p:sp>
        <p:nvSpPr>
          <p:cNvPr id="10" name="Text 7"/>
          <p:cNvSpPr txBox="1"/>
          <p:nvPr/>
        </p:nvSpPr>
        <p:spPr>
          <a:xfrm>
            <a:off x="7223760" y="2423160"/>
            <a:ext cx="1371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кабелей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6035040" y="3474720"/>
            <a:ext cx="2651760" cy="914400"/>
          </a:xfrm>
          <a:prstGeom prst="roundRect">
            <a:avLst>
              <a:gd name="adj" fmla="val 10000"/>
            </a:avLst>
          </a:prstGeom>
          <a:solidFill>
            <a:srgbClr val="F4F7FB"/>
          </a:solidFill>
          <a:ln w="12700">
            <a:solidFill>
              <a:srgbClr val="F4F7FB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217920" y="3520440"/>
            <a:ext cx="1005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8B5CF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4000" dirty="0"/>
          </a:p>
        </p:txBody>
      </p:sp>
      <p:sp>
        <p:nvSpPr>
          <p:cNvPr id="13" name="Text 10"/>
          <p:cNvSpPr txBox="1"/>
          <p:nvPr/>
        </p:nvSpPr>
        <p:spPr>
          <a:xfrm>
            <a:off x="7223760" y="3520440"/>
            <a:ext cx="1371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VLAN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Настройка маршрутизатора R1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04672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Router-on-a-stick: одна физическая линия, четыре логических подынтерфейса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5029200" cy="3383280"/>
          </a:xfrm>
          <a:prstGeom prst="roundRect">
            <a:avLst>
              <a:gd name="adj" fmla="val 2703"/>
            </a:avLst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417320"/>
            <a:ext cx="4754880" cy="3154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D6F5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interface GigabitEthernet0/0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D6F5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no shutdown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D6F5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interface GigabitEthernet0/0.10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D6F5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encapsulation dot1Q 10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D6F5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ip address 192.168.10.1 255.255.255.0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D6F5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! аналогично .20, .30, .99</a:t>
            </a:r>
            <a:endParaRPr lang="en-US" sz="1050" dirty="0"/>
          </a:p>
          <a:p>
            <a:pPr indent="0" marL="0">
              <a:buNone/>
            </a:pP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D6F5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enable secret cisco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D6F5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line console 0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D6F5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password cisco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D6F5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login</a:t>
            </a:r>
            <a:endParaRPr lang="en-US" sz="1050" dirty="0"/>
          </a:p>
          <a:p>
            <a:pPr indent="0" marL="0">
              <a:buNone/>
            </a:pP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D6F5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ip dhcp excluded-address 192.168.10.1 192.168.10.10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D6F5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ip dhcp pool BUH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D6F5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network 192.168.10.0 255.255.255.0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D6F5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default-router 192.168.10.1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D6F5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dns-server 192.168.99.10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D6F5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! пулы SALES и IT — аналогично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5806440" y="1325880"/>
            <a:ext cx="548640" cy="548640"/>
          </a:xfrm>
          <a:prstGeom prst="ellipse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27141" y="1446581"/>
            <a:ext cx="307238" cy="307238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6492240" y="128016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Подынтерфейсы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6492240" y="160020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Шлюз для каждой VLAN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5806440" y="2423160"/>
            <a:ext cx="548640" cy="548640"/>
          </a:xfrm>
          <a:prstGeom prst="ellipse">
            <a:avLst/>
          </a:prstGeom>
          <a:solidFill>
            <a:srgbClr val="22B573"/>
          </a:solidFill>
          <a:ln w="12700">
            <a:solidFill>
              <a:srgbClr val="22B573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27141" y="2543861"/>
            <a:ext cx="307238" cy="307238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6492240" y="237744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DHCP</a:t>
            </a:r>
            <a:endParaRPr lang="en-US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6492240" y="269748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пула — ПК получают адрес автоматически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5806440" y="3520440"/>
            <a:ext cx="548640" cy="548640"/>
          </a:xfrm>
          <a:prstGeom prst="ellipse">
            <a:avLst/>
          </a:prstGeom>
          <a:solidFill>
            <a:srgbClr val="E63E62"/>
          </a:solidFill>
          <a:ln w="12700">
            <a:solidFill>
              <a:srgbClr val="E63E62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27141" y="3641141"/>
            <a:ext cx="307238" cy="307238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6492240" y="347472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Безопасность</a:t>
            </a:r>
            <a:endParaRPr lang="en-US" sz="1500" dirty="0"/>
          </a:p>
        </p:txBody>
      </p:sp>
      <p:sp>
        <p:nvSpPr>
          <p:cNvPr id="17" name="Text 12"/>
          <p:cNvSpPr txBox="1"/>
          <p:nvPr/>
        </p:nvSpPr>
        <p:spPr>
          <a:xfrm>
            <a:off x="6492240" y="379476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enable secret, пароль консоли, баннер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Настройка коммутаторов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04672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Полные конфигурации — в папке configs/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3977640" cy="3383280"/>
          </a:xfrm>
          <a:prstGeom prst="roundRect">
            <a:avLst>
              <a:gd name="adj" fmla="val 2703"/>
            </a:avLst>
          </a:prstGeom>
          <a:solidFill>
            <a:srgbClr val="F4F7FB"/>
          </a:solidFill>
          <a:ln w="19050">
            <a:solidFill>
              <a:srgbClr val="E63E6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37160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3E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SW-CORE (ядро)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783080"/>
            <a:ext cx="3657600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vlan 10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B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name BUH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B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vlan 20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B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name SALES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B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vlan 30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B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name IT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B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vlan 99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B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name SERVERS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B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interface g0/1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B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switchport mode trunk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B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interface range fa0/1,fa0/3,fa0/5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B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switchport mode trunk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B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interface fa0/13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B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switchport access vlan 99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709160" y="1280160"/>
            <a:ext cx="3977640" cy="3383280"/>
          </a:xfrm>
          <a:prstGeom prst="roundRect">
            <a:avLst>
              <a:gd name="adj" fmla="val 2703"/>
            </a:avLst>
          </a:prstGeom>
          <a:solidFill>
            <a:srgbClr val="F4F7FB"/>
          </a:solidFill>
          <a:ln w="19050">
            <a:solidFill>
              <a:srgbClr val="8B5CF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892040" y="137160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8B5CF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SW-BUH / SW-SALES / SW-IT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4892040" y="1783080"/>
            <a:ext cx="3657600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vlan 10          ! 20 / 30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B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name BUH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B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interface fa0/24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B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switchport mode trunk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B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interface range fa0/1 - 23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B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switchport mode access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B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switchport access vlan 10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B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spanning-tree portfast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B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interface vlan 99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B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ip address 192.168.99.3 ...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B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ip default-gateway 192.168.99.1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Закупка оборудования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04672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Ориентировочные цены, 2026 г.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1920240" cy="1737360"/>
          </a:xfrm>
          <a:prstGeom prst="roundRect">
            <a:avLst>
              <a:gd name="adj" fmla="val 4211"/>
            </a:avLst>
          </a:prstGeom>
          <a:solidFill>
            <a:srgbClr val="F4F7FB"/>
          </a:solidFill>
          <a:ln w="12700">
            <a:solidFill>
              <a:srgbClr val="F4F7F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private/tmp/claude-501/-Users-sergei/2bb89287-c36d-4b6a-b8e3-e06097a589c7/scratchpad/t/presentation/images/rout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9160" y="1261872"/>
            <a:ext cx="1036320" cy="77724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48640" y="2075688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Маршрутизатор Cisco ISR 2911/K9</a:t>
            </a:r>
            <a:endParaRPr lang="en-US" sz="95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256032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× 65 000 ₽</a:t>
            </a:r>
            <a:pPr indent="0" marL="0">
              <a:buNone/>
            </a:pPr>
            <a:r>
              <a:rPr lang="en-US" sz="10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65 000 ₽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2560320" y="1188720"/>
            <a:ext cx="1920240" cy="1737360"/>
          </a:xfrm>
          <a:prstGeom prst="roundRect">
            <a:avLst>
              <a:gd name="adj" fmla="val 4211"/>
            </a:avLst>
          </a:prstGeom>
          <a:solidFill>
            <a:srgbClr val="F4F7FB"/>
          </a:solidFill>
          <a:ln w="12700">
            <a:solidFill>
              <a:srgbClr val="F4F7F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9" name="Image 1" descr="/private/tmp/claude-501/-Users-sergei/2bb89287-c36d-4b6a-b8e3-e06097a589c7/scratchpad/t/presentation/images/switch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02280" y="1261872"/>
            <a:ext cx="1036320" cy="77724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2651760" y="2075688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E63E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Коммутатор Cisco Catalyst 2960-24TT-L</a:t>
            </a:r>
            <a:endParaRPr lang="en-US" sz="950" dirty="0"/>
          </a:p>
        </p:txBody>
      </p:sp>
      <p:sp>
        <p:nvSpPr>
          <p:cNvPr id="11" name="Text 7"/>
          <p:cNvSpPr txBox="1"/>
          <p:nvPr/>
        </p:nvSpPr>
        <p:spPr>
          <a:xfrm>
            <a:off x="2651760" y="256032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× 28 000 ₽</a:t>
            </a:r>
            <a:pPr indent="0" marL="0">
              <a:buNone/>
            </a:pPr>
            <a:r>
              <a:rPr lang="en-US" sz="10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112 000 ₽</a:t>
            </a:r>
            <a:endParaRPr lang="en-US" sz="1000" dirty="0"/>
          </a:p>
        </p:txBody>
      </p:sp>
      <p:sp>
        <p:nvSpPr>
          <p:cNvPr id="12" name="Shape 8"/>
          <p:cNvSpPr/>
          <p:nvPr/>
        </p:nvSpPr>
        <p:spPr>
          <a:xfrm>
            <a:off x="4663440" y="1188720"/>
            <a:ext cx="1920240" cy="1737360"/>
          </a:xfrm>
          <a:prstGeom prst="roundRect">
            <a:avLst>
              <a:gd name="adj" fmla="val 4211"/>
            </a:avLst>
          </a:prstGeom>
          <a:solidFill>
            <a:srgbClr val="F4F7FB"/>
          </a:solidFill>
          <a:ln w="12700">
            <a:solidFill>
              <a:srgbClr val="F4F7F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13" name="Image 2" descr="/private/tmp/claude-501/-Users-sergei/2bb89287-c36d-4b6a-b8e3-e06097a589c7/scratchpad/t/presentation/images/pc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40630" y="1261872"/>
            <a:ext cx="1165860" cy="77724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4754880" y="2075688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FF8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Рабочая станция (Core i5, 16 ГБ, SSD 512 ГБ) + монитор 24"</a:t>
            </a:r>
            <a:endParaRPr lang="en-US" sz="950" dirty="0"/>
          </a:p>
        </p:txBody>
      </p:sp>
      <p:sp>
        <p:nvSpPr>
          <p:cNvPr id="15" name="Text 10"/>
          <p:cNvSpPr txBox="1"/>
          <p:nvPr/>
        </p:nvSpPr>
        <p:spPr>
          <a:xfrm>
            <a:off x="4754880" y="256032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× 62 000 ₽</a:t>
            </a:r>
            <a:pPr indent="0" marL="0">
              <a:buNone/>
            </a:pPr>
            <a:r>
              <a:rPr lang="en-US" sz="10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558 000 ₽</a:t>
            </a:r>
            <a:endParaRPr lang="en-US" sz="1000" dirty="0"/>
          </a:p>
        </p:txBody>
      </p:sp>
      <p:sp>
        <p:nvSpPr>
          <p:cNvPr id="16" name="Shape 11"/>
          <p:cNvSpPr/>
          <p:nvPr/>
        </p:nvSpPr>
        <p:spPr>
          <a:xfrm>
            <a:off x="6766560" y="1188720"/>
            <a:ext cx="1920240" cy="1737360"/>
          </a:xfrm>
          <a:prstGeom prst="roundRect">
            <a:avLst>
              <a:gd name="adj" fmla="val 4211"/>
            </a:avLst>
          </a:prstGeom>
          <a:solidFill>
            <a:srgbClr val="F4F7FB"/>
          </a:solidFill>
          <a:ln w="12700">
            <a:solidFill>
              <a:srgbClr val="F4F7F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17" name="Image 3" descr="/private/tmp/claude-501/-Users-sergei/2bb89287-c36d-4b6a-b8e3-e06097a589c7/scratchpad/t/presentation/images/server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35800" y="1261872"/>
            <a:ext cx="1381760" cy="777240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6858000" y="2075688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Сервер HPE ProLiant DL20 Gen10 Plus</a:t>
            </a:r>
            <a:endParaRPr lang="en-US" sz="950" dirty="0"/>
          </a:p>
        </p:txBody>
      </p:sp>
      <p:sp>
        <p:nvSpPr>
          <p:cNvPr id="19" name="Text 13"/>
          <p:cNvSpPr txBox="1"/>
          <p:nvPr/>
        </p:nvSpPr>
        <p:spPr>
          <a:xfrm>
            <a:off x="6858000" y="256032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× 210 000 ₽</a:t>
            </a:r>
            <a:pPr indent="0" marL="0">
              <a:buNone/>
            </a:pPr>
            <a:r>
              <a:rPr lang="en-US" sz="10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210 000 ₽</a:t>
            </a:r>
            <a:endParaRPr lang="en-US" sz="1000" dirty="0"/>
          </a:p>
        </p:txBody>
      </p:sp>
      <p:sp>
        <p:nvSpPr>
          <p:cNvPr id="20" name="Shape 14"/>
          <p:cNvSpPr/>
          <p:nvPr/>
        </p:nvSpPr>
        <p:spPr>
          <a:xfrm>
            <a:off x="457200" y="3063240"/>
            <a:ext cx="1920240" cy="1737360"/>
          </a:xfrm>
          <a:prstGeom prst="roundRect">
            <a:avLst>
              <a:gd name="adj" fmla="val 4211"/>
            </a:avLst>
          </a:prstGeom>
          <a:solidFill>
            <a:srgbClr val="F4F7FB"/>
          </a:solidFill>
          <a:ln w="12700">
            <a:solidFill>
              <a:srgbClr val="F4F7F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21" name="Image 4" descr="/private/tmp/claude-501/-Users-sergei/2bb89287-c36d-4b6a-b8e3-e06097a589c7/scratchpad/t/presentation/images/mfp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52163" y="3136392"/>
            <a:ext cx="530313" cy="777240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548640" y="3950208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МФУ лазерное сетевое</a:t>
            </a:r>
            <a:endParaRPr lang="en-US" sz="950" dirty="0"/>
          </a:p>
        </p:txBody>
      </p:sp>
      <p:sp>
        <p:nvSpPr>
          <p:cNvPr id="23" name="Text 16"/>
          <p:cNvSpPr txBox="1"/>
          <p:nvPr/>
        </p:nvSpPr>
        <p:spPr>
          <a:xfrm>
            <a:off x="548640" y="443484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× 24 000 ₽</a:t>
            </a:r>
            <a:pPr indent="0" marL="0">
              <a:buNone/>
            </a:pPr>
            <a:r>
              <a:rPr lang="en-US" sz="10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72 000 ₽</a:t>
            </a:r>
            <a:endParaRPr lang="en-US" sz="1000" dirty="0"/>
          </a:p>
        </p:txBody>
      </p:sp>
      <p:sp>
        <p:nvSpPr>
          <p:cNvPr id="24" name="Shape 17"/>
          <p:cNvSpPr/>
          <p:nvPr/>
        </p:nvSpPr>
        <p:spPr>
          <a:xfrm>
            <a:off x="2560320" y="3063240"/>
            <a:ext cx="1920240" cy="1737360"/>
          </a:xfrm>
          <a:prstGeom prst="roundRect">
            <a:avLst>
              <a:gd name="adj" fmla="val 4211"/>
            </a:avLst>
          </a:prstGeom>
          <a:solidFill>
            <a:srgbClr val="F4F7FB"/>
          </a:solidFill>
          <a:ln w="12700">
            <a:solidFill>
              <a:srgbClr val="F4F7F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25" name="Image 5" descr="/private/tmp/claude-501/-Users-sergei/2bb89287-c36d-4b6a-b8e3-e06097a589c7/scratchpad/t/presentation/images/rack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928306" y="3136392"/>
            <a:ext cx="1184268" cy="777240"/>
          </a:xfrm>
          <a:prstGeom prst="rect">
            <a:avLst/>
          </a:prstGeom>
        </p:spPr>
      </p:pic>
      <p:sp>
        <p:nvSpPr>
          <p:cNvPr id="26" name="Text 18"/>
          <p:cNvSpPr txBox="1"/>
          <p:nvPr/>
        </p:nvSpPr>
        <p:spPr>
          <a:xfrm>
            <a:off x="2651760" y="3950208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22B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Шкаф серверный 19" 18U</a:t>
            </a:r>
            <a:endParaRPr lang="en-US" sz="950" dirty="0"/>
          </a:p>
        </p:txBody>
      </p:sp>
      <p:sp>
        <p:nvSpPr>
          <p:cNvPr id="27" name="Text 19"/>
          <p:cNvSpPr txBox="1"/>
          <p:nvPr/>
        </p:nvSpPr>
        <p:spPr>
          <a:xfrm>
            <a:off x="2651760" y="443484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× 32 000 ₽</a:t>
            </a:r>
            <a:pPr indent="0" marL="0">
              <a:buNone/>
            </a:pPr>
            <a:r>
              <a:rPr lang="en-US" sz="10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32 000 ₽</a:t>
            </a:r>
            <a:endParaRPr lang="en-US" sz="1000" dirty="0"/>
          </a:p>
        </p:txBody>
      </p:sp>
      <p:sp>
        <p:nvSpPr>
          <p:cNvPr id="28" name="Shape 20"/>
          <p:cNvSpPr/>
          <p:nvPr/>
        </p:nvSpPr>
        <p:spPr>
          <a:xfrm>
            <a:off x="4663440" y="3063240"/>
            <a:ext cx="1920240" cy="1737360"/>
          </a:xfrm>
          <a:prstGeom prst="roundRect">
            <a:avLst>
              <a:gd name="adj" fmla="val 4211"/>
            </a:avLst>
          </a:prstGeom>
          <a:solidFill>
            <a:srgbClr val="F4F7FB"/>
          </a:solidFill>
          <a:ln w="12700">
            <a:solidFill>
              <a:srgbClr val="F4F7F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29" name="Image 6" descr="/private/tmp/claude-501/-Users-sergei/2bb89287-c36d-4b6a-b8e3-e06097a589c7/scratchpad/t/presentation/images/ups.jp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952561" y="3136392"/>
            <a:ext cx="1341997" cy="777240"/>
          </a:xfrm>
          <a:prstGeom prst="rect">
            <a:avLst/>
          </a:prstGeom>
        </p:spPr>
      </p:pic>
      <p:sp>
        <p:nvSpPr>
          <p:cNvPr id="30" name="Text 21"/>
          <p:cNvSpPr txBox="1"/>
          <p:nvPr/>
        </p:nvSpPr>
        <p:spPr>
          <a:xfrm>
            <a:off x="4754880" y="3950208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E63E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ИБП APC Smart-UPS 1500 ВА</a:t>
            </a:r>
            <a:endParaRPr lang="en-US" sz="950" dirty="0"/>
          </a:p>
        </p:txBody>
      </p:sp>
      <p:sp>
        <p:nvSpPr>
          <p:cNvPr id="31" name="Text 22"/>
          <p:cNvSpPr txBox="1"/>
          <p:nvPr/>
        </p:nvSpPr>
        <p:spPr>
          <a:xfrm>
            <a:off x="4754880" y="443484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× 48 000 ₽</a:t>
            </a:r>
            <a:pPr indent="0" marL="0">
              <a:buNone/>
            </a:pPr>
            <a:r>
              <a:rPr lang="en-US" sz="10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48 000 ₽</a:t>
            </a:r>
            <a:endParaRPr lang="en-US" sz="1000" dirty="0"/>
          </a:p>
        </p:txBody>
      </p:sp>
      <p:sp>
        <p:nvSpPr>
          <p:cNvPr id="32" name="Shape 23"/>
          <p:cNvSpPr/>
          <p:nvPr/>
        </p:nvSpPr>
        <p:spPr>
          <a:xfrm>
            <a:off x="6766560" y="3063240"/>
            <a:ext cx="1920240" cy="1737360"/>
          </a:xfrm>
          <a:prstGeom prst="roundRect">
            <a:avLst>
              <a:gd name="adj" fmla="val 4211"/>
            </a:avLst>
          </a:prstGeom>
          <a:solidFill>
            <a:srgbClr val="E63E62"/>
          </a:solidFill>
          <a:ln w="12700">
            <a:solidFill>
              <a:srgbClr val="E63E62"/>
            </a:solidFill>
            <a:prstDash val="solid"/>
          </a:ln>
        </p:spPr>
      </p:sp>
      <p:sp>
        <p:nvSpPr>
          <p:cNvPr id="33" name="Text 24"/>
          <p:cNvSpPr txBox="1"/>
          <p:nvPr/>
        </p:nvSpPr>
        <p:spPr>
          <a:xfrm>
            <a:off x="6903720" y="324612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Итого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оборудование</a:t>
            </a:r>
            <a:endParaRPr lang="en-US" sz="1400" dirty="0"/>
          </a:p>
        </p:txBody>
      </p:sp>
      <p:sp>
        <p:nvSpPr>
          <p:cNvPr id="34" name="Text 25"/>
          <p:cNvSpPr txBox="1"/>
          <p:nvPr/>
        </p:nvSpPr>
        <p:spPr>
          <a:xfrm>
            <a:off x="6903720" y="397764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1 097 000 ₽</a:t>
            </a:r>
            <a:endParaRPr lang="en-US" sz="2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Расходные материалы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04672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Для прокладки СКС и подключения рабочих мест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234440"/>
            <a:ext cx="2651760" cy="850392"/>
          </a:xfrm>
          <a:prstGeom prst="roundRect">
            <a:avLst>
              <a:gd name="adj" fmla="val 8602"/>
            </a:avLst>
          </a:prstGeom>
          <a:solidFill>
            <a:srgbClr val="F4F7FB"/>
          </a:solidFill>
          <a:ln w="12700">
            <a:solidFill>
              <a:srgbClr val="F4F7F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private/tmp/claude-501/-Users-sergei/2bb89287-c36d-4b6a-b8e3-e06097a589c7/scratchpad/t/presentation/images/cabl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" y="1310679"/>
            <a:ext cx="868680" cy="69791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481328" y="1307592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Кабель витая пара UTP Cat.5e, бухта 305 м</a:t>
            </a:r>
            <a:endParaRPr lang="en-US" sz="900" dirty="0"/>
          </a:p>
        </p:txBody>
      </p:sp>
      <p:sp>
        <p:nvSpPr>
          <p:cNvPr id="7" name="Text 4"/>
          <p:cNvSpPr txBox="1"/>
          <p:nvPr/>
        </p:nvSpPr>
        <p:spPr>
          <a:xfrm>
            <a:off x="1481328" y="1783080"/>
            <a:ext cx="1600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× 7 500 ₽</a:t>
            </a:r>
            <a:pPr indent="0" marL="0">
              <a:buNone/>
            </a:pPr>
            <a:r>
              <a:rPr lang="en-US" sz="900" b="1" dirty="0">
                <a:solidFill>
                  <a:srgbClr val="22B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15 000 ₽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3246120" y="1234440"/>
            <a:ext cx="2651760" cy="850392"/>
          </a:xfrm>
          <a:prstGeom prst="roundRect">
            <a:avLst>
              <a:gd name="adj" fmla="val 8602"/>
            </a:avLst>
          </a:prstGeom>
          <a:solidFill>
            <a:srgbClr val="F4F7FB"/>
          </a:solidFill>
          <a:ln w="12700">
            <a:solidFill>
              <a:srgbClr val="F4F7F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9" name="Image 1" descr="/private/tmp/claude-501/-Users-sergei/2bb89287-c36d-4b6a-b8e3-e06097a589c7/scratchpad/t/presentation/images/rj45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19272" y="1333881"/>
            <a:ext cx="868680" cy="65151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4270248" y="1307592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Коннекторы RJ-45 8P8C (уп. 100 шт.)</a:t>
            </a:r>
            <a:endParaRPr lang="en-US" sz="900" dirty="0"/>
          </a:p>
        </p:txBody>
      </p:sp>
      <p:sp>
        <p:nvSpPr>
          <p:cNvPr id="11" name="Text 7"/>
          <p:cNvSpPr txBox="1"/>
          <p:nvPr/>
        </p:nvSpPr>
        <p:spPr>
          <a:xfrm>
            <a:off x="4270248" y="1783080"/>
            <a:ext cx="1600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× 900 ₽</a:t>
            </a:r>
            <a:pPr indent="0" marL="0">
              <a:buNone/>
            </a:pPr>
            <a:r>
              <a:rPr lang="en-US" sz="900" b="1" dirty="0">
                <a:solidFill>
                  <a:srgbClr val="22B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1 800 ₽</a:t>
            </a:r>
            <a:endParaRPr lang="en-US" sz="900" dirty="0"/>
          </a:p>
        </p:txBody>
      </p:sp>
      <p:sp>
        <p:nvSpPr>
          <p:cNvPr id="12" name="Shape 8"/>
          <p:cNvSpPr/>
          <p:nvPr/>
        </p:nvSpPr>
        <p:spPr>
          <a:xfrm>
            <a:off x="6035040" y="1234440"/>
            <a:ext cx="2651760" cy="850392"/>
          </a:xfrm>
          <a:prstGeom prst="roundRect">
            <a:avLst>
              <a:gd name="adj" fmla="val 8602"/>
            </a:avLst>
          </a:prstGeom>
          <a:solidFill>
            <a:srgbClr val="F4F7FB"/>
          </a:solidFill>
          <a:ln w="12700">
            <a:solidFill>
              <a:srgbClr val="F4F7F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13" name="Image 2" descr="/private/tmp/claude-501/-Users-sergei/2bb89287-c36d-4b6a-b8e3-e06097a589c7/scratchpad/t/presentation/images/boot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08192" y="1376059"/>
            <a:ext cx="868680" cy="567155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7059168" y="1307592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Изолирующие колпачки (уп. 100 шт.)</a:t>
            </a:r>
            <a:endParaRPr lang="en-US" sz="900" dirty="0"/>
          </a:p>
        </p:txBody>
      </p:sp>
      <p:sp>
        <p:nvSpPr>
          <p:cNvPr id="15" name="Text 10"/>
          <p:cNvSpPr txBox="1"/>
          <p:nvPr/>
        </p:nvSpPr>
        <p:spPr>
          <a:xfrm>
            <a:off x="7059168" y="1783080"/>
            <a:ext cx="1600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× 350 ₽</a:t>
            </a:r>
            <a:pPr indent="0" marL="0">
              <a:buNone/>
            </a:pPr>
            <a:r>
              <a:rPr lang="en-US" sz="900" b="1" dirty="0">
                <a:solidFill>
                  <a:srgbClr val="22B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700 ₽</a:t>
            </a:r>
            <a:endParaRPr lang="en-US" sz="900" dirty="0"/>
          </a:p>
        </p:txBody>
      </p:sp>
      <p:sp>
        <p:nvSpPr>
          <p:cNvPr id="16" name="Shape 11"/>
          <p:cNvSpPr/>
          <p:nvPr/>
        </p:nvSpPr>
        <p:spPr>
          <a:xfrm>
            <a:off x="457200" y="2148840"/>
            <a:ext cx="2651760" cy="850392"/>
          </a:xfrm>
          <a:prstGeom prst="roundRect">
            <a:avLst>
              <a:gd name="adj" fmla="val 8602"/>
            </a:avLst>
          </a:prstGeom>
          <a:solidFill>
            <a:srgbClr val="F4F7FB"/>
          </a:solidFill>
          <a:ln w="12700">
            <a:solidFill>
              <a:srgbClr val="F4F7F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17" name="Image 3" descr="/private/tmp/claude-501/-Users-sergei/2bb89287-c36d-4b6a-b8e3-e06097a589c7/scratchpad/t/presentation/images/panel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0352" y="2284928"/>
            <a:ext cx="868680" cy="578215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1481328" y="2221992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Патч-панель 24 порта Cat.5e</a:t>
            </a:r>
            <a:endParaRPr lang="en-US" sz="900" dirty="0"/>
          </a:p>
        </p:txBody>
      </p:sp>
      <p:sp>
        <p:nvSpPr>
          <p:cNvPr id="19" name="Text 13"/>
          <p:cNvSpPr txBox="1"/>
          <p:nvPr/>
        </p:nvSpPr>
        <p:spPr>
          <a:xfrm>
            <a:off x="1481328" y="2697480"/>
            <a:ext cx="1600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× 3 200 ₽</a:t>
            </a:r>
            <a:pPr indent="0" marL="0">
              <a:buNone/>
            </a:pPr>
            <a:r>
              <a:rPr lang="en-US" sz="900" b="1" dirty="0">
                <a:solidFill>
                  <a:srgbClr val="22B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3 200 ₽</a:t>
            </a:r>
            <a:endParaRPr lang="en-US" sz="900" dirty="0"/>
          </a:p>
        </p:txBody>
      </p:sp>
      <p:sp>
        <p:nvSpPr>
          <p:cNvPr id="20" name="Shape 14"/>
          <p:cNvSpPr/>
          <p:nvPr/>
        </p:nvSpPr>
        <p:spPr>
          <a:xfrm>
            <a:off x="3246120" y="2148840"/>
            <a:ext cx="2651760" cy="850392"/>
          </a:xfrm>
          <a:prstGeom prst="roundRect">
            <a:avLst>
              <a:gd name="adj" fmla="val 8602"/>
            </a:avLst>
          </a:prstGeom>
          <a:solidFill>
            <a:srgbClr val="F4F7FB"/>
          </a:solidFill>
          <a:ln w="12700">
            <a:solidFill>
              <a:srgbClr val="F4F7F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21" name="Image 4" descr="/private/tmp/claude-501/-Users-sergei/2bb89287-c36d-4b6a-b8e3-e06097a589c7/scratchpad/t/presentation/images/socket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19272" y="2276332"/>
            <a:ext cx="868680" cy="595408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4270248" y="2221992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Розетка RJ-45 настенная</a:t>
            </a:r>
            <a:endParaRPr lang="en-US" sz="900" dirty="0"/>
          </a:p>
        </p:txBody>
      </p:sp>
      <p:sp>
        <p:nvSpPr>
          <p:cNvPr id="23" name="Text 16"/>
          <p:cNvSpPr txBox="1"/>
          <p:nvPr/>
        </p:nvSpPr>
        <p:spPr>
          <a:xfrm>
            <a:off x="4270248" y="2697480"/>
            <a:ext cx="1600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× 350 ₽</a:t>
            </a:r>
            <a:pPr indent="0" marL="0">
              <a:buNone/>
            </a:pPr>
            <a:r>
              <a:rPr lang="en-US" sz="900" b="1" dirty="0">
                <a:solidFill>
                  <a:srgbClr val="22B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4 200 ₽</a:t>
            </a:r>
            <a:endParaRPr lang="en-US" sz="900" dirty="0"/>
          </a:p>
        </p:txBody>
      </p:sp>
      <p:sp>
        <p:nvSpPr>
          <p:cNvPr id="24" name="Shape 17"/>
          <p:cNvSpPr/>
          <p:nvPr/>
        </p:nvSpPr>
        <p:spPr>
          <a:xfrm>
            <a:off x="6035040" y="2148840"/>
            <a:ext cx="2651760" cy="850392"/>
          </a:xfrm>
          <a:prstGeom prst="roundRect">
            <a:avLst>
              <a:gd name="adj" fmla="val 8602"/>
            </a:avLst>
          </a:prstGeom>
          <a:solidFill>
            <a:srgbClr val="F4F7FB"/>
          </a:solidFill>
          <a:ln w="12700">
            <a:solidFill>
              <a:srgbClr val="F4F7F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25" name="Image 5" descr="/private/tmp/claude-501/-Users-sergei/2bb89287-c36d-4b6a-b8e3-e06097a589c7/scratchpad/t/presentation/images/duct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89330" y="2221992"/>
            <a:ext cx="706404" cy="704088"/>
          </a:xfrm>
          <a:prstGeom prst="rect">
            <a:avLst/>
          </a:prstGeom>
        </p:spPr>
      </p:pic>
      <p:sp>
        <p:nvSpPr>
          <p:cNvPr id="26" name="Text 18"/>
          <p:cNvSpPr txBox="1"/>
          <p:nvPr/>
        </p:nvSpPr>
        <p:spPr>
          <a:xfrm>
            <a:off x="7059168" y="2221992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Кабель-канал 25×16 мм, 2 м</a:t>
            </a:r>
            <a:endParaRPr lang="en-US" sz="900" dirty="0"/>
          </a:p>
        </p:txBody>
      </p:sp>
      <p:sp>
        <p:nvSpPr>
          <p:cNvPr id="27" name="Text 19"/>
          <p:cNvSpPr txBox="1"/>
          <p:nvPr/>
        </p:nvSpPr>
        <p:spPr>
          <a:xfrm>
            <a:off x="7059168" y="2697480"/>
            <a:ext cx="1600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 × 180 ₽</a:t>
            </a:r>
            <a:pPr indent="0" marL="0">
              <a:buNone/>
            </a:pPr>
            <a:r>
              <a:rPr lang="en-US" sz="900" b="1" dirty="0">
                <a:solidFill>
                  <a:srgbClr val="22B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7 200 ₽</a:t>
            </a:r>
            <a:endParaRPr lang="en-US" sz="900" dirty="0"/>
          </a:p>
        </p:txBody>
      </p:sp>
      <p:sp>
        <p:nvSpPr>
          <p:cNvPr id="28" name="Shape 20"/>
          <p:cNvSpPr/>
          <p:nvPr/>
        </p:nvSpPr>
        <p:spPr>
          <a:xfrm>
            <a:off x="457200" y="3063240"/>
            <a:ext cx="2651760" cy="850392"/>
          </a:xfrm>
          <a:prstGeom prst="roundRect">
            <a:avLst>
              <a:gd name="adj" fmla="val 8602"/>
            </a:avLst>
          </a:prstGeom>
          <a:solidFill>
            <a:srgbClr val="F4F7FB"/>
          </a:solidFill>
          <a:ln w="12700">
            <a:solidFill>
              <a:srgbClr val="F4F7F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29" name="Image 6" descr="/private/tmp/claude-501/-Users-sergei/2bb89287-c36d-4b6a-b8e3-e06097a589c7/scratchpad/t/presentation/images/cord.jp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30352" y="3162681"/>
            <a:ext cx="868680" cy="651510"/>
          </a:xfrm>
          <a:prstGeom prst="rect">
            <a:avLst/>
          </a:prstGeom>
        </p:spPr>
      </p:pic>
      <p:sp>
        <p:nvSpPr>
          <p:cNvPr id="30" name="Text 21"/>
          <p:cNvSpPr txBox="1"/>
          <p:nvPr/>
        </p:nvSpPr>
        <p:spPr>
          <a:xfrm>
            <a:off x="1481328" y="3136392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Патч-корд UTP 1 м</a:t>
            </a:r>
            <a:endParaRPr lang="en-US" sz="900" dirty="0"/>
          </a:p>
        </p:txBody>
      </p:sp>
      <p:sp>
        <p:nvSpPr>
          <p:cNvPr id="31" name="Text 22"/>
          <p:cNvSpPr txBox="1"/>
          <p:nvPr/>
        </p:nvSpPr>
        <p:spPr>
          <a:xfrm>
            <a:off x="1481328" y="3611880"/>
            <a:ext cx="1600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× 150 ₽</a:t>
            </a:r>
            <a:pPr indent="0" marL="0">
              <a:buNone/>
            </a:pPr>
            <a:r>
              <a:rPr lang="en-US" sz="900" b="1" dirty="0">
                <a:solidFill>
                  <a:srgbClr val="22B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3 000 ₽</a:t>
            </a:r>
            <a:endParaRPr lang="en-US" sz="900" dirty="0"/>
          </a:p>
        </p:txBody>
      </p:sp>
      <p:sp>
        <p:nvSpPr>
          <p:cNvPr id="32" name="Shape 23"/>
          <p:cNvSpPr/>
          <p:nvPr/>
        </p:nvSpPr>
        <p:spPr>
          <a:xfrm>
            <a:off x="3246120" y="3063240"/>
            <a:ext cx="2651760" cy="850392"/>
          </a:xfrm>
          <a:prstGeom prst="roundRect">
            <a:avLst>
              <a:gd name="adj" fmla="val 8602"/>
            </a:avLst>
          </a:prstGeom>
          <a:solidFill>
            <a:srgbClr val="F4F7FB"/>
          </a:solidFill>
          <a:ln w="12700">
            <a:solidFill>
              <a:srgbClr val="F4F7F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3" name="Image 7" descr="/private/tmp/claude-501/-Users-sergei/2bb89287-c36d-4b6a-b8e3-e06097a589c7/scratchpad/t/presentation/images/console.jp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319272" y="3162681"/>
            <a:ext cx="868680" cy="651510"/>
          </a:xfrm>
          <a:prstGeom prst="rect">
            <a:avLst/>
          </a:prstGeom>
        </p:spPr>
      </p:pic>
      <p:sp>
        <p:nvSpPr>
          <p:cNvPr id="34" name="Text 24"/>
          <p:cNvSpPr txBox="1"/>
          <p:nvPr/>
        </p:nvSpPr>
        <p:spPr>
          <a:xfrm>
            <a:off x="4270248" y="3136392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Консольный кабель Cisco RJ-45 – USB</a:t>
            </a:r>
            <a:endParaRPr lang="en-US" sz="900" dirty="0"/>
          </a:p>
        </p:txBody>
      </p:sp>
      <p:sp>
        <p:nvSpPr>
          <p:cNvPr id="35" name="Text 25"/>
          <p:cNvSpPr txBox="1"/>
          <p:nvPr/>
        </p:nvSpPr>
        <p:spPr>
          <a:xfrm>
            <a:off x="4270248" y="3611880"/>
            <a:ext cx="1600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× 1 200 ₽</a:t>
            </a:r>
            <a:pPr indent="0" marL="0">
              <a:buNone/>
            </a:pPr>
            <a:r>
              <a:rPr lang="en-US" sz="900" b="1" dirty="0">
                <a:solidFill>
                  <a:srgbClr val="22B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1 200 ₽</a:t>
            </a:r>
            <a:endParaRPr lang="en-US" sz="900" dirty="0"/>
          </a:p>
        </p:txBody>
      </p:sp>
      <p:sp>
        <p:nvSpPr>
          <p:cNvPr id="36" name="Shape 26"/>
          <p:cNvSpPr/>
          <p:nvPr/>
        </p:nvSpPr>
        <p:spPr>
          <a:xfrm>
            <a:off x="6035040" y="3063240"/>
            <a:ext cx="2651760" cy="850392"/>
          </a:xfrm>
          <a:prstGeom prst="roundRect">
            <a:avLst>
              <a:gd name="adj" fmla="val 8602"/>
            </a:avLst>
          </a:prstGeom>
          <a:solidFill>
            <a:srgbClr val="F4F7FB"/>
          </a:solidFill>
          <a:ln w="12700">
            <a:solidFill>
              <a:srgbClr val="F4F7F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7" name="Image 8" descr="/private/tmp/claude-501/-Users-sergei/2bb89287-c36d-4b6a-b8e3-e06097a589c7/scratchpad/t/presentation/images/crimp.jp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108192" y="3162681"/>
            <a:ext cx="868680" cy="651510"/>
          </a:xfrm>
          <a:prstGeom prst="rect">
            <a:avLst/>
          </a:prstGeom>
        </p:spPr>
      </p:pic>
      <p:sp>
        <p:nvSpPr>
          <p:cNvPr id="38" name="Text 27"/>
          <p:cNvSpPr txBox="1"/>
          <p:nvPr/>
        </p:nvSpPr>
        <p:spPr>
          <a:xfrm>
            <a:off x="7059168" y="3136392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Кримпер + LAN-тестер</a:t>
            </a:r>
            <a:endParaRPr lang="en-US" sz="900" dirty="0"/>
          </a:p>
        </p:txBody>
      </p:sp>
      <p:sp>
        <p:nvSpPr>
          <p:cNvPr id="39" name="Text 28"/>
          <p:cNvSpPr txBox="1"/>
          <p:nvPr/>
        </p:nvSpPr>
        <p:spPr>
          <a:xfrm>
            <a:off x="7059168" y="3611880"/>
            <a:ext cx="1600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× 3 500 ₽</a:t>
            </a:r>
            <a:pPr indent="0" marL="0">
              <a:buNone/>
            </a:pPr>
            <a:r>
              <a:rPr lang="en-US" sz="900" b="1" dirty="0">
                <a:solidFill>
                  <a:srgbClr val="22B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3 500 ₽</a:t>
            </a:r>
            <a:endParaRPr lang="en-US" sz="900" dirty="0"/>
          </a:p>
        </p:txBody>
      </p:sp>
      <p:sp>
        <p:nvSpPr>
          <p:cNvPr id="40" name="Shape 29"/>
          <p:cNvSpPr/>
          <p:nvPr/>
        </p:nvSpPr>
        <p:spPr>
          <a:xfrm>
            <a:off x="457200" y="3977640"/>
            <a:ext cx="2651760" cy="850392"/>
          </a:xfrm>
          <a:prstGeom prst="roundRect">
            <a:avLst>
              <a:gd name="adj" fmla="val 8602"/>
            </a:avLst>
          </a:prstGeom>
          <a:solidFill>
            <a:srgbClr val="F4F7FB"/>
          </a:solidFill>
          <a:ln w="12700">
            <a:solidFill>
              <a:srgbClr val="F4F7F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41" name="Image 9" descr="/private/tmp/claude-501/-Users-sergei/2bb89287-c36d-4b6a-b8e3-e06097a589c7/scratchpad/t/presentation/images/ties.jp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30352" y="4077081"/>
            <a:ext cx="868680" cy="651510"/>
          </a:xfrm>
          <a:prstGeom prst="rect">
            <a:avLst/>
          </a:prstGeom>
        </p:spPr>
      </p:pic>
      <p:sp>
        <p:nvSpPr>
          <p:cNvPr id="42" name="Text 30"/>
          <p:cNvSpPr txBox="1"/>
          <p:nvPr/>
        </p:nvSpPr>
        <p:spPr>
          <a:xfrm>
            <a:off x="1481328" y="4050792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Стяжки, маркировка, крепёж (комплект)</a:t>
            </a:r>
            <a:endParaRPr lang="en-US" sz="900" dirty="0"/>
          </a:p>
        </p:txBody>
      </p:sp>
      <p:sp>
        <p:nvSpPr>
          <p:cNvPr id="43" name="Text 31"/>
          <p:cNvSpPr txBox="1"/>
          <p:nvPr/>
        </p:nvSpPr>
        <p:spPr>
          <a:xfrm>
            <a:off x="1481328" y="4526280"/>
            <a:ext cx="1600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× 1 500 ₽</a:t>
            </a:r>
            <a:pPr indent="0" marL="0">
              <a:buNone/>
            </a:pPr>
            <a:r>
              <a:rPr lang="en-US" sz="900" b="1" dirty="0">
                <a:solidFill>
                  <a:srgbClr val="22B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1 500 ₽</a:t>
            </a:r>
            <a:endParaRPr lang="en-US" sz="900" dirty="0"/>
          </a:p>
        </p:txBody>
      </p:sp>
      <p:sp>
        <p:nvSpPr>
          <p:cNvPr id="44" name="Shape 32"/>
          <p:cNvSpPr/>
          <p:nvPr/>
        </p:nvSpPr>
        <p:spPr>
          <a:xfrm>
            <a:off x="3246120" y="3977640"/>
            <a:ext cx="5440680" cy="850392"/>
          </a:xfrm>
          <a:prstGeom prst="roundRect">
            <a:avLst>
              <a:gd name="adj" fmla="val 8602"/>
            </a:avLst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</p:sp>
      <p:sp>
        <p:nvSpPr>
          <p:cNvPr id="45" name="Text 33"/>
          <p:cNvSpPr txBox="1"/>
          <p:nvPr/>
        </p:nvSpPr>
        <p:spPr>
          <a:xfrm>
            <a:off x="3474720" y="3977640"/>
            <a:ext cx="310896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Итого расходные материалы</a:t>
            </a:r>
            <a:endParaRPr lang="en-US" sz="1500" dirty="0"/>
          </a:p>
        </p:txBody>
      </p:sp>
      <p:sp>
        <p:nvSpPr>
          <p:cNvPr id="46" name="Text 34"/>
          <p:cNvSpPr txBox="1"/>
          <p:nvPr/>
        </p:nvSpPr>
        <p:spPr>
          <a:xfrm>
            <a:off x="6537960" y="3977640"/>
            <a:ext cx="192024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41 300 ₽</a:t>
            </a:r>
            <a:endParaRPr lang="en-US" sz="2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Бюджет проекта</a:t>
            </a:r>
            <a:endParaRPr lang="en-US" sz="30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274320" y="914400"/>
          <a:ext cx="4754880" cy="4023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Shape 1"/>
          <p:cNvSpPr/>
          <p:nvPr/>
        </p:nvSpPr>
        <p:spPr>
          <a:xfrm>
            <a:off x="5394960" y="1188720"/>
            <a:ext cx="3291840" cy="1554480"/>
          </a:xfrm>
          <a:prstGeom prst="roundRect">
            <a:avLst>
              <a:gd name="adj" fmla="val 7059"/>
            </a:avLst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623560" y="132588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Общая стоимость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5623560" y="1691640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1 138 300 ₽</a:t>
            </a:r>
            <a:endParaRPr lang="en-US" sz="3000" dirty="0"/>
          </a:p>
        </p:txBody>
      </p:sp>
      <p:sp>
        <p:nvSpPr>
          <p:cNvPr id="7" name="Shape 4"/>
          <p:cNvSpPr/>
          <p:nvPr/>
        </p:nvSpPr>
        <p:spPr>
          <a:xfrm>
            <a:off x="5440680" y="3081528"/>
            <a:ext cx="201168" cy="201168"/>
          </a:xfrm>
          <a:prstGeom prst="ellipse">
            <a:avLst/>
          </a:prstGeom>
          <a:solidFill>
            <a:srgbClr val="E63E62"/>
          </a:solidFill>
          <a:ln w="12700">
            <a:solidFill>
              <a:srgbClr val="E63E62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760720" y="2999232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Оборудование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7315200" y="2999232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1 097 000 ₽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440680" y="3630168"/>
            <a:ext cx="201168" cy="201168"/>
          </a:xfrm>
          <a:prstGeom prst="ellipse">
            <a:avLst/>
          </a:prstGeom>
          <a:solidFill>
            <a:srgbClr val="22B573"/>
          </a:solidFill>
          <a:ln w="12700">
            <a:solidFill>
              <a:srgbClr val="22B573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5760720" y="3547872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Расходные материалы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7315200" y="3547872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41 300 ₽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Проверка работы сети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04672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Команда ping с рабочих станций в Packet Tracer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5120640" cy="530352"/>
          </a:xfrm>
          <a:prstGeom prst="roundRect">
            <a:avLst>
              <a:gd name="adj" fmla="val 13793"/>
            </a:avLst>
          </a:prstGeom>
          <a:solidFill>
            <a:srgbClr val="F4F7FB"/>
          </a:solidFill>
          <a:ln w="12700">
            <a:solidFill>
              <a:srgbClr val="F4F7F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435608"/>
            <a:ext cx="219456" cy="219456"/>
          </a:xfrm>
          <a:prstGeom prst="ellipse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60120" y="1280160"/>
            <a:ext cx="3657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PC9 (IT)  →  </a:t>
            </a:r>
            <a:pPr indent="0" marL="0">
              <a:buNone/>
            </a:pPr>
            <a:r>
              <a:rPr lang="en-US" sz="13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PC1 — бухгалтерия 192.168.10.11</a:t>
            </a:r>
            <a:endParaRPr lang="en-US" sz="13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663440" y="1389888"/>
            <a:ext cx="310896" cy="310896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5029200" y="1280160"/>
            <a:ext cx="457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2B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OK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457200" y="1938528"/>
            <a:ext cx="5120640" cy="530352"/>
          </a:xfrm>
          <a:prstGeom prst="roundRect">
            <a:avLst>
              <a:gd name="adj" fmla="val 13793"/>
            </a:avLst>
          </a:prstGeom>
          <a:solidFill>
            <a:srgbClr val="F4F7FB"/>
          </a:solidFill>
          <a:ln w="12700">
            <a:solidFill>
              <a:srgbClr val="F4F7FB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594360" y="2093976"/>
            <a:ext cx="219456" cy="219456"/>
          </a:xfrm>
          <a:prstGeom prst="ellipse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960120" y="1938528"/>
            <a:ext cx="3657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PC9 (IT)  →  </a:t>
            </a:r>
            <a:pPr indent="0" marL="0">
              <a:buNone/>
            </a:pPr>
            <a:r>
              <a:rPr lang="en-US" sz="13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PC5 — продажи 192.168.20.12</a:t>
            </a:r>
            <a:endParaRPr lang="en-US" sz="1300" dirty="0"/>
          </a:p>
        </p:txBody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0" y="2048256"/>
            <a:ext cx="310896" cy="310896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5029200" y="1938528"/>
            <a:ext cx="457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2B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OK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457200" y="2596896"/>
            <a:ext cx="5120640" cy="530352"/>
          </a:xfrm>
          <a:prstGeom prst="roundRect">
            <a:avLst>
              <a:gd name="adj" fmla="val 13793"/>
            </a:avLst>
          </a:prstGeom>
          <a:solidFill>
            <a:srgbClr val="F4F7FB"/>
          </a:solidFill>
          <a:ln w="12700">
            <a:solidFill>
              <a:srgbClr val="F4F7FB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594360" y="2752344"/>
            <a:ext cx="219456" cy="219456"/>
          </a:xfrm>
          <a:prstGeom prst="ellipse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960120" y="2596896"/>
            <a:ext cx="3657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PC9 (IT)  →  </a:t>
            </a:r>
            <a:pPr indent="0" marL="0">
              <a:buNone/>
            </a:pPr>
            <a:r>
              <a:rPr lang="en-US" sz="13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192.168.99.10</a:t>
            </a:r>
            <a:endParaRPr lang="en-US" sz="1300" dirty="0"/>
          </a:p>
        </p:txBody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63440" y="2706624"/>
            <a:ext cx="310896" cy="310896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5029200" y="2596896"/>
            <a:ext cx="457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2B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OK</a:t>
            </a:r>
            <a:endParaRPr lang="en-US" sz="1300" dirty="0"/>
          </a:p>
        </p:txBody>
      </p:sp>
      <p:sp>
        <p:nvSpPr>
          <p:cNvPr id="19" name="Shape 14"/>
          <p:cNvSpPr/>
          <p:nvPr/>
        </p:nvSpPr>
        <p:spPr>
          <a:xfrm>
            <a:off x="457200" y="3255264"/>
            <a:ext cx="5120640" cy="530352"/>
          </a:xfrm>
          <a:prstGeom prst="roundRect">
            <a:avLst>
              <a:gd name="adj" fmla="val 13793"/>
            </a:avLst>
          </a:prstGeom>
          <a:solidFill>
            <a:srgbClr val="F4F7FB"/>
          </a:solidFill>
          <a:ln w="12700">
            <a:solidFill>
              <a:srgbClr val="F4F7FB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594360" y="3410712"/>
            <a:ext cx="219456" cy="219456"/>
          </a:xfrm>
          <a:prstGeom prst="ellipse">
            <a:avLst/>
          </a:prstGeom>
          <a:solidFill>
            <a:srgbClr val="E63E62"/>
          </a:solidFill>
          <a:ln w="12700">
            <a:solidFill>
              <a:srgbClr val="E63E62"/>
            </a:solidFill>
            <a:prstDash val="solid"/>
          </a:ln>
        </p:spPr>
      </p:sp>
      <p:sp>
        <p:nvSpPr>
          <p:cNvPr id="21" name="Text 16"/>
          <p:cNvSpPr txBox="1"/>
          <p:nvPr/>
        </p:nvSpPr>
        <p:spPr>
          <a:xfrm>
            <a:off x="960120" y="3255264"/>
            <a:ext cx="3657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Trunk-каналы  →  </a:t>
            </a:r>
            <a:pPr indent="0" marL="0">
              <a:buNone/>
            </a:pPr>
            <a:r>
              <a:rPr lang="en-US" sz="13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802.1Q, все линки up</a:t>
            </a:r>
            <a:endParaRPr lang="en-US" sz="1300" dirty="0"/>
          </a:p>
        </p:txBody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63440" y="3364992"/>
            <a:ext cx="310896" cy="310896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5029200" y="3255264"/>
            <a:ext cx="457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2B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OK</a:t>
            </a:r>
            <a:endParaRPr lang="en-US" sz="1300" dirty="0"/>
          </a:p>
        </p:txBody>
      </p:sp>
      <p:sp>
        <p:nvSpPr>
          <p:cNvPr id="24" name="Shape 18"/>
          <p:cNvSpPr/>
          <p:nvPr/>
        </p:nvSpPr>
        <p:spPr>
          <a:xfrm>
            <a:off x="457200" y="3913632"/>
            <a:ext cx="5120640" cy="530352"/>
          </a:xfrm>
          <a:prstGeom prst="roundRect">
            <a:avLst>
              <a:gd name="adj" fmla="val 13793"/>
            </a:avLst>
          </a:prstGeom>
          <a:solidFill>
            <a:srgbClr val="F4F7FB"/>
          </a:solidFill>
          <a:ln w="12700">
            <a:solidFill>
              <a:srgbClr val="F4F7FB"/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594360" y="4069080"/>
            <a:ext cx="219456" cy="219456"/>
          </a:xfrm>
          <a:prstGeom prst="ellipse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960120" y="3913632"/>
            <a:ext cx="3657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Все ПК  →  </a:t>
            </a:r>
            <a:pPr indent="0" marL="0">
              <a:buNone/>
            </a:pPr>
            <a:r>
              <a:rPr lang="en-US" sz="13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получили IP по DHCP</a:t>
            </a:r>
            <a:endParaRPr lang="en-US" sz="1300" dirty="0"/>
          </a:p>
        </p:txBody>
      </p:sp>
      <p:pic>
        <p:nvPicPr>
          <p:cNvPr id="2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63440" y="4023360"/>
            <a:ext cx="310896" cy="310896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5029200" y="3913632"/>
            <a:ext cx="457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2B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OK</a:t>
            </a:r>
            <a:endParaRPr lang="en-US" sz="1300" dirty="0"/>
          </a:p>
        </p:txBody>
      </p:sp>
      <p:sp>
        <p:nvSpPr>
          <p:cNvPr id="29" name="Shape 22"/>
          <p:cNvSpPr/>
          <p:nvPr/>
        </p:nvSpPr>
        <p:spPr>
          <a:xfrm>
            <a:off x="5943600" y="1280160"/>
            <a:ext cx="2743200" cy="3163824"/>
          </a:xfrm>
          <a:prstGeom prst="roundRect">
            <a:avLst>
              <a:gd name="adj" fmla="val 3333"/>
            </a:avLst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</p:sp>
      <p:sp>
        <p:nvSpPr>
          <p:cNvPr id="30" name="Text 23"/>
          <p:cNvSpPr txBox="1"/>
          <p:nvPr/>
        </p:nvSpPr>
        <p:spPr>
          <a:xfrm>
            <a:off x="6126480" y="1417320"/>
            <a:ext cx="246888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D6F5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C:\&gt;ping 192.168.10.11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D6F5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Request timed out.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D6F5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Reply from 192.168.10.11: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D6F5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bytes=32 time&lt;1ms TTL=127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D6F5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Reply from 192.168.10.11: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D6F5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bytes=32 time&lt;1ms TTL=127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D6F5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Sent = 4, Received = 3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D6F5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(1-й пакет — ARP-запрос)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Итоги</a:t>
            </a:r>
            <a:endParaRPr lang="en-US" sz="38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548640" cy="548640"/>
          </a:xfrm>
          <a:prstGeom prst="ellipse">
            <a:avLst/>
          </a:prstGeom>
          <a:solidFill>
            <a:srgbClr val="E63E62"/>
          </a:solidFill>
          <a:ln w="12700">
            <a:solidFill>
              <a:srgbClr val="E63E62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9341" y="1538021"/>
            <a:ext cx="307238" cy="307238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280160" y="141732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Спроектирована ЛВС на 3 отдела: 9 ПК, сервер, 4 коммутатора, маршрутизатор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548640" y="2240280"/>
            <a:ext cx="548640" cy="548640"/>
          </a:xfrm>
          <a:prstGeom prst="ellipse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341" y="2360981"/>
            <a:ext cx="307238" cy="30723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280160" y="224028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Отделы разделены по VLAN, маршрутизация между ними — на R1</a:t>
            </a:r>
            <a:endParaRPr lang="en-US" sz="1600" dirty="0"/>
          </a:p>
        </p:txBody>
      </p:sp>
      <p:sp>
        <p:nvSpPr>
          <p:cNvPr id="9" name="Shape 5"/>
          <p:cNvSpPr/>
          <p:nvPr/>
        </p:nvSpPr>
        <p:spPr>
          <a:xfrm>
            <a:off x="548640" y="3063240"/>
            <a:ext cx="548640" cy="548640"/>
          </a:xfrm>
          <a:prstGeom prst="ellipse">
            <a:avLst/>
          </a:prstGeom>
          <a:solidFill>
            <a:srgbClr val="22B573"/>
          </a:solidFill>
          <a:ln w="12700">
            <a:solidFill>
              <a:srgbClr val="22B573"/>
            </a:solidFill>
            <a:prstDash val="solid"/>
          </a:ln>
        </p:spPr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9341" y="3183941"/>
            <a:ext cx="307238" cy="307238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280160" y="306324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Адреса раздаются по DHCP, связь между всеми узлами проверена ping</a:t>
            </a:r>
            <a:endParaRPr lang="en-US" sz="1600" dirty="0"/>
          </a:p>
        </p:txBody>
      </p:sp>
      <p:sp>
        <p:nvSpPr>
          <p:cNvPr id="12" name="Shape 7"/>
          <p:cNvSpPr/>
          <p:nvPr/>
        </p:nvSpPr>
        <p:spPr>
          <a:xfrm>
            <a:off x="548640" y="3886200"/>
            <a:ext cx="548640" cy="548640"/>
          </a:xfrm>
          <a:prstGeom prst="ellipse">
            <a:avLst/>
          </a:prstGeom>
          <a:solidFill>
            <a:srgbClr val="FF8A00"/>
          </a:solidFill>
          <a:ln w="12700">
            <a:solidFill>
              <a:srgbClr val="FF8A00"/>
            </a:solidFill>
            <a:prstDash val="solid"/>
          </a:ln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9341" y="4006901"/>
            <a:ext cx="307238" cy="307238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1280160" y="388620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Составлена смета: 1 138 300 ₽ на оборудование и материалы</a:t>
            </a:r>
            <a:endParaRPr lang="en-US" sz="16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Источники изображений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04672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Фотографии оборудования — Wikimedia Commons, свободные лицензии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234440"/>
            <a:ext cx="402336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85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Маршрутизатор: </a:t>
            </a:r>
            <a:pPr indent="0" marL="0">
              <a:spcAft>
                <a:spcPts val="400"/>
              </a:spcAft>
              <a:buNone/>
            </a:pPr>
            <a:r>
              <a:rPr lang="en-US" sz="8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Cisco 2800 series router (1).jpg — Robert, CC BY 2.0</a:t>
            </a:r>
            <a:endParaRPr lang="en-US" sz="8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85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Коммутаторы: </a:t>
            </a:r>
            <a:pPr indent="0" marL="0">
              <a:spcAft>
                <a:spcPts val="400"/>
              </a:spcAft>
              <a:buNone/>
            </a:pPr>
            <a:r>
              <a:rPr lang="en-US" sz="8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Ccna security lab.JPG — Axel Dux, CC BY-SA 3.0</a:t>
            </a:r>
            <a:endParaRPr lang="en-US" sz="8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85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Рабочая станция: </a:t>
            </a:r>
            <a:pPr indent="0" marL="0">
              <a:spcAft>
                <a:spcPts val="400"/>
              </a:spcAft>
              <a:buNone/>
            </a:pPr>
            <a:r>
              <a:rPr lang="en-US" sz="8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20150214-20150219최광모C36.JPG — 최광모, CC BY-SA 4.0</a:t>
            </a:r>
            <a:endParaRPr lang="en-US" sz="8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85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Сервер: </a:t>
            </a:r>
            <a:pPr indent="0" marL="0">
              <a:spcAft>
                <a:spcPts val="400"/>
              </a:spcAft>
              <a:buNone/>
            </a:pPr>
            <a:r>
              <a:rPr lang="en-US" sz="8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HP ProLiant DL360 and two DL380.jpg — Robert, CC BY 2.0</a:t>
            </a:r>
            <a:endParaRPr lang="en-US" sz="8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85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МФУ: </a:t>
            </a:r>
            <a:pPr indent="0" marL="0">
              <a:spcAft>
                <a:spcPts val="400"/>
              </a:spcAft>
              <a:buNone/>
            </a:pPr>
            <a:r>
              <a:rPr lang="en-US" sz="8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HP Color LaserJet CM1312nfi Multifunction Printer.jpg — Sgroey, CC BY-SA 4.0</a:t>
            </a:r>
            <a:endParaRPr lang="en-US" sz="8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85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Шкаф: </a:t>
            </a:r>
            <a:pPr indent="0" marL="0">
              <a:spcAft>
                <a:spcPts val="400"/>
              </a:spcAft>
              <a:buNone/>
            </a:pPr>
            <a:r>
              <a:rPr lang="en-US" sz="8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Racksserver.png — Racksserver, CC BY-SA 3.0</a:t>
            </a:r>
            <a:endParaRPr lang="en-US" sz="8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85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ИБП: </a:t>
            </a:r>
            <a:pPr indent="0" marL="0">
              <a:spcAft>
                <a:spcPts val="400"/>
              </a:spcAft>
              <a:buNone/>
            </a:pPr>
            <a:r>
              <a:rPr lang="en-US" sz="8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Apc ups rs500 07.jpg — Hundehalter, CC BY-SA 3.0</a:t>
            </a:r>
            <a:endParaRPr lang="en-US" sz="8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85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Кабель UTP: </a:t>
            </a:r>
            <a:pPr indent="0" marL="0">
              <a:spcAft>
                <a:spcPts val="400"/>
              </a:spcAft>
              <a:buNone/>
            </a:pPr>
            <a:r>
              <a:rPr lang="en-US" sz="8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10baseT cable.jpeg — Dflock, Public domain</a:t>
            </a:r>
            <a:endParaRPr lang="en-US" sz="8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85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Коннекторы RJ-45: </a:t>
            </a:r>
            <a:pPr indent="0" marL="0">
              <a:spcAft>
                <a:spcPts val="400"/>
              </a:spcAft>
              <a:buNone/>
            </a:pPr>
            <a:r>
              <a:rPr lang="en-US" sz="8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8P8C modular plugs (1).JPG — CyberXRef, CC BY-SA 3.0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4663440" y="1234440"/>
            <a:ext cx="402336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85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Колпачки: </a:t>
            </a:r>
            <a:pPr indent="0" marL="0">
              <a:spcAft>
                <a:spcPts val="400"/>
              </a:spcAft>
              <a:buNone/>
            </a:pPr>
            <a:r>
              <a:rPr lang="en-US" sz="8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10baseT jack.png — Dflock at English Wikipedia, Public domain</a:t>
            </a:r>
            <a:endParaRPr lang="en-US" sz="8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85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Патч-панель: </a:t>
            </a:r>
            <a:pPr indent="0" marL="0">
              <a:spcAft>
                <a:spcPts val="400"/>
              </a:spcAft>
              <a:buNone/>
            </a:pPr>
            <a:r>
              <a:rPr lang="en-US" sz="8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19" patchpanel for up to 24 keystone modules.jpg — Phiarc, CC BY-SA 4.0</a:t>
            </a:r>
            <a:endParaRPr lang="en-US" sz="8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85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Розетка RJ-45: </a:t>
            </a:r>
            <a:pPr indent="0" marL="0">
              <a:spcAft>
                <a:spcPts val="400"/>
              </a:spcAft>
              <a:buNone/>
            </a:pPr>
            <a:r>
              <a:rPr lang="en-US" sz="8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RJ45-wall.jpg — NzW at Wikipedia, Public domain</a:t>
            </a:r>
            <a:endParaRPr lang="en-US" sz="8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85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Кабель-канал: </a:t>
            </a:r>
            <a:pPr indent="0" marL="0">
              <a:spcAft>
                <a:spcPts val="400"/>
              </a:spcAft>
              <a:buNone/>
            </a:pPr>
            <a:r>
              <a:rPr lang="en-US" sz="8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Angular trunking accessories.JPG — Leotard, Public domain</a:t>
            </a:r>
            <a:endParaRPr lang="en-US" sz="8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85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Патч-корд: </a:t>
            </a:r>
            <a:pPr indent="0" marL="0">
              <a:spcAft>
                <a:spcPts val="400"/>
              </a:spcAft>
              <a:buNone/>
            </a:pPr>
            <a:r>
              <a:rPr lang="en-US" sz="8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232x174 RJ-45 patchcord.png — Mlewis000 (talk) (Uploads), CC BY-SA 3.0</a:t>
            </a:r>
            <a:endParaRPr lang="en-US" sz="8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85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Консольный кабель: </a:t>
            </a:r>
            <a:pPr indent="0" marL="0">
              <a:spcAft>
                <a:spcPts val="400"/>
              </a:spcAft>
              <a:buNone/>
            </a:pPr>
            <a:r>
              <a:rPr lang="en-US" sz="8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CiscoConsoleCable.jpg — Pries, CC BY-SA 4.0</a:t>
            </a:r>
            <a:endParaRPr lang="en-US" sz="8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85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Кримпер и тестер: </a:t>
            </a:r>
            <a:pPr indent="0" marL="0">
              <a:spcAft>
                <a:spcPts val="400"/>
              </a:spcAft>
              <a:buNone/>
            </a:pPr>
            <a:r>
              <a:rPr lang="en-US" sz="8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Cable stripper, cable tester (RJ45, RJ11), LSA-Tool and crimping tool.jpg — www.heimnetzwerke.net, CC BY 4.0</a:t>
            </a:r>
            <a:endParaRPr lang="en-US" sz="8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85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Стяжки: </a:t>
            </a:r>
            <a:pPr indent="0" marL="0">
              <a:spcAft>
                <a:spcPts val="400"/>
              </a:spcAft>
              <a:buNone/>
            </a:pPr>
            <a:r>
              <a:rPr lang="en-US" sz="8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Cable ties.jpg — Silverxxx (talk), CC BY-SA 3.0</a:t>
            </a:r>
            <a:endParaRPr lang="en-US" sz="85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44805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Страница каждого файла: commons.wikimedia.org/wiki/File:&lt;имя файла&gt;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ЛВС офиса на 3 отдела — Cisco Packet Tracer</dc:title>
  <dc:subject>PptxGenJS Presentation</dc:subject>
  <dc:creator>PptxGenJS</dc:creator>
  <cp:lastModifiedBy>PptxGenJS</cp:lastModifiedBy>
  <cp:revision>1</cp:revision>
  <dcterms:created xsi:type="dcterms:W3CDTF">2026-09-29T10:57:00Z</dcterms:created>
  <dcterms:modified xsi:type="dcterms:W3CDTF">2026-09-29T10:57:00Z</dcterms:modified>
</cp:coreProperties>
</file>