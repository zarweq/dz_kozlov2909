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5CF6"/>
              </a:solidFill>
              <a:effectLst/>
            </c:spPr>
          </c:dPt>
          <c:dPt>
            <c:idx val="1"/>
            <c:bubble3D val="0"/>
            <c:spPr>
              <a:solidFill>
                <a:srgbClr val="00B4D8"/>
              </a:solidFill>
              <a:effectLst/>
            </c:spPr>
          </c:dPt>
          <c:dPt>
            <c:idx val="2"/>
            <c:bubble3D val="0"/>
            <c:spPr>
              <a:solidFill>
                <a:srgbClr val="E63E62"/>
              </a:solidFill>
              <a:effectLst/>
            </c:spPr>
          </c:dPt>
          <c:dPt>
            <c:idx val="3"/>
            <c:bubble3D val="0"/>
            <c:spPr>
              <a:solidFill>
                <a:srgbClr val="FF8A00"/>
              </a:solidFill>
              <a:effectLst/>
            </c:spPr>
          </c:dPt>
          <c:dPt>
            <c:idx val="4"/>
            <c:bubble3D val="0"/>
            <c:spPr>
              <a:solidFill>
                <a:srgbClr val="0B1F3A"/>
              </a:solidFill>
              <a:effectLst/>
            </c:spPr>
          </c:dPt>
          <c:dPt>
            <c:idx val="5"/>
            <c:bubble3D val="0"/>
            <c:spPr>
              <a:solidFill>
                <a:srgbClr val="F7C948"/>
              </a:solidFill>
              <a:effectLst/>
            </c:spPr>
          </c:dPt>
          <c:dPt>
            <c:idx val="6"/>
            <c:bubble3D val="0"/>
            <c:spPr>
              <a:solidFill>
                <a:srgbClr val="22B57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Рабочие станции</c:v>
                </c:pt>
                <c:pt idx="1">
                  <c:v>Сервер</c:v>
                </c:pt>
                <c:pt idx="2">
                  <c:v>Коммутаторы</c:v>
                </c:pt>
                <c:pt idx="3">
                  <c:v>МФУ</c:v>
                </c:pt>
                <c:pt idx="4">
                  <c:v>Маршрутизатор</c:v>
                </c:pt>
                <c:pt idx="5">
                  <c:v>Шкаф + ИБП</c:v>
                </c:pt>
                <c:pt idx="6">
                  <c:v>Расходники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558000</c:v>
                </c:pt>
                <c:pt idx="1">
                  <c:v>210000</c:v>
                </c:pt>
                <c:pt idx="2">
                  <c:v>112000</c:v>
                </c:pt>
                <c:pt idx="3">
                  <c:v>72000</c:v>
                </c:pt>
                <c:pt idx="4">
                  <c:v>65000</c:v>
                </c:pt>
                <c:pt idx="5">
                  <c:v>80000</c:v>
                </c:pt>
                <c:pt idx="6">
                  <c:v>41300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image" Target="../media/image-17-6.jpg"/><Relationship Id="rId7" Type="http://schemas.openxmlformats.org/officeDocument/2006/relationships/image" Target="../media/image-17-7.jpg"/><Relationship Id="rId8" Type="http://schemas.openxmlformats.org/officeDocument/2006/relationships/image" Target="../media/image-17-8.jpg"/><Relationship Id="rId9" Type="http://schemas.openxmlformats.org/officeDocument/2006/relationships/image" Target="../media/image-17-9.jpg"/><Relationship Id="rId10" Type="http://schemas.openxmlformats.org/officeDocument/2006/relationships/image" Target="../media/image-17-10.jp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731520"/>
            <a:ext cx="685800" cy="685800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882396"/>
            <a:ext cx="384048" cy="3840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95160" y="731520"/>
            <a:ext cx="685800" cy="6858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6036" y="882396"/>
            <a:ext cx="384048" cy="38404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731520"/>
            <a:ext cx="685800" cy="6858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882396"/>
            <a:ext cx="384048" cy="38404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560820" y="1600200"/>
            <a:ext cx="685800" cy="6858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696" y="1751076"/>
            <a:ext cx="384048" cy="38404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429500" y="1600200"/>
            <a:ext cx="685800" cy="685800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0376" y="1751076"/>
            <a:ext cx="384048" cy="38404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548640" y="137160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Проектирование ЛВС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офиса на 3 отдела</a:t>
            </a:r>
            <a:endParaRPr lang="en-US" sz="3800" dirty="0"/>
          </a:p>
        </p:txBody>
      </p:sp>
      <p:sp>
        <p:nvSpPr>
          <p:cNvPr id="13" name="Text 6"/>
          <p:cNvSpPr txBox="1"/>
          <p:nvPr/>
        </p:nvSpPr>
        <p:spPr>
          <a:xfrm>
            <a:off x="548640" y="2880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Топология, настройка в Cisco Packet Tracer и смета на оборудование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Калиберда Сергей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Задание проекта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Малый офис: бухгалтерия, отдел продаж и IT-отдел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74520" cy="310896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45920"/>
            <a:ext cx="685800" cy="685800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7967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Топология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260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Иерархическая звезда: маршрутизатор → ядро → 3 коммутатора отделов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560320" y="1417320"/>
            <a:ext cx="1874520" cy="310896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788920" y="1645920"/>
            <a:ext cx="685800" cy="6858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796" y="17967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8892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Сегментация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29260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отдел в своей VLAN, серверы в отдельной VLAN 99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663440" y="1417320"/>
            <a:ext cx="1874520" cy="310896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92040" y="1645920"/>
            <a:ext cx="685800" cy="6858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179679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9204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Настройка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29260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Router-on-a-stick, DHCP для всех ПК, trunk-каналы, пароли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766560" y="1417320"/>
            <a:ext cx="1874520" cy="310896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995160" y="1645920"/>
            <a:ext cx="685800" cy="685800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6036" y="179679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9516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Закупка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995160" y="29260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 оборудования и расходных материалов с ценами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Топология сети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234440"/>
            <a:ext cx="914" cy="914400"/>
          </a:xfrm>
          <a:prstGeom prst="line">
            <a:avLst/>
          </a:prstGeom>
          <a:noFill/>
          <a:ln w="38100">
            <a:solidFill>
              <a:srgbClr val="0B1F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2148840"/>
            <a:ext cx="2377440" cy="914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37360" y="2148840"/>
            <a:ext cx="2834640" cy="960120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2148840"/>
            <a:ext cx="914" cy="960120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2148840"/>
            <a:ext cx="2834640" cy="960120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1560" y="3108960"/>
            <a:ext cx="685800" cy="1024128"/>
          </a:xfrm>
          <a:prstGeom prst="line">
            <a:avLst/>
          </a:prstGeom>
          <a:noFill/>
          <a:ln w="19050">
            <a:solidFill>
              <a:srgbClr val="22B5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37360" y="3108960"/>
            <a:ext cx="914" cy="1024128"/>
          </a:xfrm>
          <a:prstGeom prst="line">
            <a:avLst/>
          </a:prstGeom>
          <a:noFill/>
          <a:ln w="19050">
            <a:solidFill>
              <a:srgbClr val="22B5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3108960"/>
            <a:ext cx="685800" cy="1024128"/>
          </a:xfrm>
          <a:prstGeom prst="line">
            <a:avLst/>
          </a:prstGeom>
          <a:noFill/>
          <a:ln w="19050">
            <a:solidFill>
              <a:srgbClr val="22B5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886200" y="3108960"/>
            <a:ext cx="685800" cy="1024128"/>
          </a:xfrm>
          <a:prstGeom prst="line">
            <a:avLst/>
          </a:prstGeom>
          <a:noFill/>
          <a:ln w="19050">
            <a:solidFill>
              <a:srgbClr val="FF8A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3108960"/>
            <a:ext cx="914" cy="1024128"/>
          </a:xfrm>
          <a:prstGeom prst="line">
            <a:avLst/>
          </a:prstGeom>
          <a:noFill/>
          <a:ln w="19050">
            <a:solidFill>
              <a:srgbClr val="FF8A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3108960"/>
            <a:ext cx="685800" cy="1024128"/>
          </a:xfrm>
          <a:prstGeom prst="line">
            <a:avLst/>
          </a:prstGeom>
          <a:noFill/>
          <a:ln w="19050">
            <a:solidFill>
              <a:srgbClr val="FF8A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6720840" y="3108960"/>
            <a:ext cx="685800" cy="1024128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3108960"/>
            <a:ext cx="914" cy="1024128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0" y="3108960"/>
            <a:ext cx="685800" cy="1024128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88536" y="960120"/>
            <a:ext cx="566928" cy="566928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260" y="1084844"/>
            <a:ext cx="317480" cy="3174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4928616" y="104241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— Cisco 2911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G0/0.10/.20/.30/.99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288536" y="1874520"/>
            <a:ext cx="566928" cy="566928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3260" y="1999244"/>
            <a:ext cx="317480" cy="3174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660904" y="195681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SW-CORE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2960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665976" y="1874520"/>
            <a:ext cx="566928" cy="5669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700" y="1999244"/>
            <a:ext cx="317480" cy="3174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217920" y="245973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192.168.99.10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1453896" y="2834640"/>
            <a:ext cx="566928" cy="566928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8620" y="2959364"/>
            <a:ext cx="317480" cy="3174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-173736" y="291693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SW-BUH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10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50392" y="3931920"/>
            <a:ext cx="402336" cy="40233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906" y="4020434"/>
            <a:ext cx="225308" cy="2253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152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1536192" y="3931920"/>
            <a:ext cx="402336" cy="40233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4706" y="4020434"/>
            <a:ext cx="225308" cy="22530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41732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</a:t>
            </a:r>
            <a:endParaRPr lang="en-US" sz="900" dirty="0"/>
          </a:p>
        </p:txBody>
      </p:sp>
      <p:sp>
        <p:nvSpPr>
          <p:cNvPr id="35" name="Shape 27"/>
          <p:cNvSpPr/>
          <p:nvPr/>
        </p:nvSpPr>
        <p:spPr>
          <a:xfrm>
            <a:off x="2221992" y="3931920"/>
            <a:ext cx="402336" cy="40233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0506" y="4020434"/>
            <a:ext cx="225308" cy="22530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10312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PC3</a:t>
            </a:r>
            <a:endParaRPr lang="en-US" sz="900" dirty="0"/>
          </a:p>
        </p:txBody>
      </p:sp>
      <p:sp>
        <p:nvSpPr>
          <p:cNvPr id="38" name="Shape 29"/>
          <p:cNvSpPr/>
          <p:nvPr/>
        </p:nvSpPr>
        <p:spPr>
          <a:xfrm>
            <a:off x="4288536" y="2834640"/>
            <a:ext cx="566928" cy="566928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3260" y="2959364"/>
            <a:ext cx="317480" cy="31748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2660904" y="291693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SW-SALES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20</a:t>
            </a:r>
            <a:endParaRPr lang="en-US" sz="1100" dirty="0"/>
          </a:p>
        </p:txBody>
      </p:sp>
      <p:sp>
        <p:nvSpPr>
          <p:cNvPr id="41" name="Shape 31"/>
          <p:cNvSpPr/>
          <p:nvPr/>
        </p:nvSpPr>
        <p:spPr>
          <a:xfrm>
            <a:off x="3685032" y="39319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3546" y="4020434"/>
            <a:ext cx="225308" cy="22530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356616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PC4</a:t>
            </a:r>
            <a:endParaRPr lang="en-US" sz="900" dirty="0"/>
          </a:p>
        </p:txBody>
      </p:sp>
      <p:sp>
        <p:nvSpPr>
          <p:cNvPr id="44" name="Shape 33"/>
          <p:cNvSpPr/>
          <p:nvPr/>
        </p:nvSpPr>
        <p:spPr>
          <a:xfrm>
            <a:off x="4370832" y="39319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59346" y="4020434"/>
            <a:ext cx="225308" cy="22530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25196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PC5</a:t>
            </a:r>
            <a:endParaRPr lang="en-US" sz="900" dirty="0"/>
          </a:p>
        </p:txBody>
      </p:sp>
      <p:sp>
        <p:nvSpPr>
          <p:cNvPr id="47" name="Shape 35"/>
          <p:cNvSpPr/>
          <p:nvPr/>
        </p:nvSpPr>
        <p:spPr>
          <a:xfrm>
            <a:off x="5056632" y="39319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5146" y="4020434"/>
            <a:ext cx="225308" cy="225308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493776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PC6</a:t>
            </a:r>
            <a:endParaRPr lang="en-US" sz="900" dirty="0"/>
          </a:p>
        </p:txBody>
      </p:sp>
      <p:sp>
        <p:nvSpPr>
          <p:cNvPr id="50" name="Shape 37"/>
          <p:cNvSpPr/>
          <p:nvPr/>
        </p:nvSpPr>
        <p:spPr>
          <a:xfrm>
            <a:off x="7123176" y="2834640"/>
            <a:ext cx="566928" cy="56692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47900" y="2959364"/>
            <a:ext cx="317480" cy="31748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763256" y="291693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SW-IT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30</a:t>
            </a:r>
            <a:endParaRPr lang="en-US" sz="1100" dirty="0"/>
          </a:p>
        </p:txBody>
      </p:sp>
      <p:sp>
        <p:nvSpPr>
          <p:cNvPr id="53" name="Shape 39"/>
          <p:cNvSpPr/>
          <p:nvPr/>
        </p:nvSpPr>
        <p:spPr>
          <a:xfrm>
            <a:off x="6519672" y="3931920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08186" y="4020434"/>
            <a:ext cx="225308" cy="225308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640080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PC7</a:t>
            </a:r>
            <a:endParaRPr lang="en-US" sz="900" dirty="0"/>
          </a:p>
        </p:txBody>
      </p:sp>
      <p:sp>
        <p:nvSpPr>
          <p:cNvPr id="56" name="Shape 41"/>
          <p:cNvSpPr/>
          <p:nvPr/>
        </p:nvSpPr>
        <p:spPr>
          <a:xfrm>
            <a:off x="7205472" y="3931920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3986" y="4020434"/>
            <a:ext cx="225308" cy="225308"/>
          </a:xfrm>
          <a:prstGeom prst="rect">
            <a:avLst/>
          </a:prstGeom>
        </p:spPr>
      </p:pic>
      <p:sp>
        <p:nvSpPr>
          <p:cNvPr id="58" name="Text 42"/>
          <p:cNvSpPr txBox="1"/>
          <p:nvPr/>
        </p:nvSpPr>
        <p:spPr>
          <a:xfrm>
            <a:off x="708660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PC8</a:t>
            </a:r>
            <a:endParaRPr lang="en-US" sz="900" dirty="0"/>
          </a:p>
        </p:txBody>
      </p:sp>
      <p:sp>
        <p:nvSpPr>
          <p:cNvPr id="59" name="Shape 43"/>
          <p:cNvSpPr/>
          <p:nvPr/>
        </p:nvSpPr>
        <p:spPr>
          <a:xfrm>
            <a:off x="7891272" y="3931920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6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79786" y="4020434"/>
            <a:ext cx="225308" cy="225308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777240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PC9</a:t>
            </a:r>
            <a:endParaRPr lang="en-US" sz="900" dirty="0"/>
          </a:p>
        </p:txBody>
      </p:sp>
      <p:sp>
        <p:nvSpPr>
          <p:cNvPr id="62" name="Shape 45"/>
          <p:cNvSpPr/>
          <p:nvPr/>
        </p:nvSpPr>
        <p:spPr>
          <a:xfrm>
            <a:off x="457200" y="1097280"/>
            <a:ext cx="164592" cy="164592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85800" y="1033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Бухгалтерия</a:t>
            </a:r>
            <a:endParaRPr lang="en-US" sz="1100" dirty="0"/>
          </a:p>
        </p:txBody>
      </p:sp>
      <p:sp>
        <p:nvSpPr>
          <p:cNvPr id="64" name="Shape 47"/>
          <p:cNvSpPr/>
          <p:nvPr/>
        </p:nvSpPr>
        <p:spPr>
          <a:xfrm>
            <a:off x="457200" y="1389888"/>
            <a:ext cx="164592" cy="164592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65" name="Text 48"/>
          <p:cNvSpPr txBox="1"/>
          <p:nvPr/>
        </p:nvSpPr>
        <p:spPr>
          <a:xfrm>
            <a:off x="685800" y="1325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</a:t>
            </a:r>
            <a:endParaRPr lang="en-US" sz="1100" dirty="0"/>
          </a:p>
        </p:txBody>
      </p:sp>
      <p:sp>
        <p:nvSpPr>
          <p:cNvPr id="66" name="Shape 49"/>
          <p:cNvSpPr/>
          <p:nvPr/>
        </p:nvSpPr>
        <p:spPr>
          <a:xfrm>
            <a:off x="457200" y="1682496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7" name="Text 50"/>
          <p:cNvSpPr txBox="1"/>
          <p:nvPr/>
        </p:nvSpPr>
        <p:spPr>
          <a:xfrm>
            <a:off x="685800" y="16184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IT-отдел</a:t>
            </a:r>
            <a:endParaRPr lang="en-US" sz="1100" dirty="0"/>
          </a:p>
        </p:txBody>
      </p:sp>
      <p:sp>
        <p:nvSpPr>
          <p:cNvPr id="68" name="Shape 51"/>
          <p:cNvSpPr/>
          <p:nvPr/>
        </p:nvSpPr>
        <p:spPr>
          <a:xfrm>
            <a:off x="457200" y="1975104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9" name="Text 52"/>
          <p:cNvSpPr txBox="1"/>
          <p:nvPr/>
        </p:nvSpPr>
        <p:spPr>
          <a:xfrm>
            <a:off x="685800" y="19110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Топология в Cisco Packet Tracer</a:t>
            </a:r>
            <a:endParaRPr lang="en-US" sz="3000" dirty="0"/>
          </a:p>
        </p:txBody>
      </p:sp>
      <p:pic>
        <p:nvPicPr>
          <p:cNvPr id="3" name="Image 0" descr="/Users/sergei/Desktop/LAN_Project/top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254559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VLAN и план IP-адресации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Маска /24 (255.255.255.0) во всех сетях, адреса ПК выдаёт DHCP на R1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17320"/>
                <a:gridCol w="1325880"/>
                <a:gridCol w="1325880"/>
                <a:gridCol w="1325880"/>
                <a:gridCol w="2103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Отдел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Шлюз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DHCP-диапазон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Устройства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B5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Бухгалтерия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.11 – 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PC1–PC3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8A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Отдел продаж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192.168.20.0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192.168.20.1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.11 – 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PC4–PC6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IT-отдел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192.168.30.0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192.168.30.1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.11 – 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PC7–PC9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Серверы / упр.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192.168.99.0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192.168.99.1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статика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.10, коммутаторы .2–.5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VLAN: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отделы изолированы на канальном уровне, широковещательный трафик не выходит за пределы отдела, а доступ между отделами контролирует маршрутизатор.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подключения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соединения — медный прямой кабель (Copper Straight-Through)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73736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Устройство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Подключено 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G0/0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G0/1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63E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SW-BUH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63E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SW-SALES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63E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63E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B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SW-BUH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Fa0/1, 3,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PC1–PC3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SW-SALES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Fa0/1, 3,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PC4–PC6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Fa0/1, 3,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PC7–PC9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2801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0" y="1325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3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223760" y="13258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устройств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237744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0" y="24231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24231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кабелей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035040" y="347472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352044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35204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Настройка маршрутизатора R1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Router-on-a-stick: одна физическая линия, четыре логических подынтерфейса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29200" cy="3383280"/>
          </a:xfrm>
          <a:prstGeom prst="roundRect">
            <a:avLst>
              <a:gd name="adj" fmla="val 270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7548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GigabitEthernet0/0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 shutdown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GigabitEthernet0/0.10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encapsulation dot1Q 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ip address 192.168.10.1 255.255.255.0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аналогично .20, .30, .99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 secret cisco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console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password cisco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dhcp excluded-address 192.168.10.1 192.168.10.10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dhcp pool BUH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network 192.168.10.0 255.255.255.0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default-router 192.168.10.1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dns-server 192.168.99.10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пулы SALES и IT — аналогично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806440" y="1325880"/>
            <a:ext cx="548640" cy="5486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7141" y="14465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92240" y="1280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Подынтерфейсы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600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Шлюз для каждой VLAN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2423160"/>
            <a:ext cx="548640" cy="548640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7141" y="25438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9224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DHCP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2697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пула — ПК получают адрес автоматически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806440" y="3520440"/>
            <a:ext cx="548640" cy="548640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141" y="364114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Безопасность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794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secret, пароль консоли, баннер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Настройка коммутаторов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Полные конфигурации — в папке configs/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3383280"/>
          </a:xfrm>
          <a:prstGeom prst="roundRect">
            <a:avLst>
              <a:gd name="adj" fmla="val 2703"/>
            </a:avLst>
          </a:prstGeom>
          <a:solidFill>
            <a:srgbClr val="F4F7FB"/>
          </a:solidFill>
          <a:ln w="19050">
            <a:solidFill>
              <a:srgbClr val="E63E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3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SW-CORE (ядро)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3657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10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BUH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20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SALES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30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SERVERS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g0/1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mode trunk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range fa0/1,fa0/3,fa0/5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mode trunk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fa0/13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access vlan 99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280160"/>
            <a:ext cx="3977640" cy="3383280"/>
          </a:xfrm>
          <a:prstGeom prst="roundRect">
            <a:avLst>
              <a:gd name="adj" fmla="val 2703"/>
            </a:avLst>
          </a:prstGeom>
          <a:solidFill>
            <a:srgbClr val="F4F7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SW-BUH / SW-SALES / SW-IT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783080"/>
            <a:ext cx="3657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10          ! 20 / 30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BUH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fa0/24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mode trunk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range fa0/1 - 23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mode access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access vlan 10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spanning-tree portfast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vlan 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ip address 192.168.99.3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default-gateway 192.168.99.1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Закупка оборудования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Ориентировочные цены, 2026 г.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private/tmp/claude-501/-Users-sergei/2bb89287-c36d-4b6a-b8e3-e06097a589c7/scratchpad/t/presentation/images/rou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160" y="1261872"/>
            <a:ext cx="1036320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075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Маршрутизатор Cisco ISR 2911/K9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65 000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65 000 ₽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6032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/private/tmp/claude-501/-Users-sergei/2bb89287-c36d-4b6a-b8e3-e06097a589c7/scratchpad/t/presentation/images/swi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280" y="1261872"/>
            <a:ext cx="103632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651760" y="2075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63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Коммутатор Cisco Catalyst 2960-24TT-L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265176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28 000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112 000 ₽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66344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/private/tmp/claude-501/-Users-sergei/2bb89287-c36d-4b6a-b8e3-e06097a589c7/scratchpad/t/presentation/images/p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630" y="1261872"/>
            <a:ext cx="1165860" cy="7772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754880" y="2075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 (Core i5, 16 ГБ, SSD 512 ГБ) + монитор 24"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475488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× 62 000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558 000 ₽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76656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/private/tmp/claude-501/-Users-sergei/2bb89287-c36d-4b6a-b8e3-e06097a589c7/scratchpad/t/presentation/images/serv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800" y="1261872"/>
            <a:ext cx="138176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58000" y="2075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HPE ProLiant DL20 Gen10 Plus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685800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210 000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210 000 ₽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57200" y="306324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private/tmp/claude-501/-Users-sergei/2bb89287-c36d-4b6a-b8e3-e06097a589c7/scratchpad/t/presentation/images/mf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63" y="3136392"/>
            <a:ext cx="530313" cy="7772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8640" y="39502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МФУ лазерное сетевое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548640" y="4434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24 000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72 000 ₽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2560320" y="306324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5" descr="/private/tmp/claude-501/-Users-sergei/2bb89287-c36d-4b6a-b8e3-e06097a589c7/scratchpad/t/presentation/images/rac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8306" y="3136392"/>
            <a:ext cx="1184268" cy="77724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2651760" y="39502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Шкаф серверный 19" 18U</a:t>
            </a:r>
            <a:endParaRPr lang="en-US" sz="950" dirty="0"/>
          </a:p>
        </p:txBody>
      </p:sp>
      <p:sp>
        <p:nvSpPr>
          <p:cNvPr id="27" name="Text 19"/>
          <p:cNvSpPr txBox="1"/>
          <p:nvPr/>
        </p:nvSpPr>
        <p:spPr>
          <a:xfrm>
            <a:off x="2651760" y="4434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32 000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32 000 ₽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4663440" y="306324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9" name="Image 6" descr="/private/tmp/claude-501/-Users-sergei/2bb89287-c36d-4b6a-b8e3-e06097a589c7/scratchpad/t/presentation/images/up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2561" y="3136392"/>
            <a:ext cx="1341997" cy="7772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754880" y="39502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63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ИБП APC Smart-UPS 1500 ВА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4754880" y="4434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48 000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48 000 ₽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766560" y="306324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903720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6903720" y="3977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1 097 000 ₽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1 из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Маршрутизатор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Маршрутизатор Cisco ISR 2911/K9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251460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private/tmp/claude-501/-Users-sergei/2bb89287-c36d-4b6a-b8e3-e06097a589c7/scratchpad/t/presentation/images/rou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720" y="1481328"/>
            <a:ext cx="30480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23360"/>
            <a:ext cx="3749040" cy="777240"/>
          </a:xfrm>
          <a:prstGeom prst="roundRect">
            <a:avLst>
              <a:gd name="adj" fmla="val 1176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шт. × 65 000 ₽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40233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65 000 ₽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0" y="1709928"/>
            <a:ext cx="128016" cy="1280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0600" y="16642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Соединяет отделы: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маршрутизирует трафик между VLAN 10, 20, 30 и 99 — без него отделы не видят друг друга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2258568"/>
            <a:ext cx="128016" cy="1280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2128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Раздаёт адреса: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DHCP-сервер: автоматически выдаёт IP, шлюз и DNS всем 9 компьютерам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2807208"/>
            <a:ext cx="128016" cy="1280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00600" y="2761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Шлюз по умолчанию: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 .1 в каждой сети — через него ПК выходят за пределы своего отдела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3355848"/>
            <a:ext cx="128016" cy="1280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0600" y="331012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наружу: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свободные порты G0/1 и G0/2 — для подключения провайдера и интернета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Gigabit Ethernet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слота EHWIC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152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Серия ISR G2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0" y="429768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09160" y="42976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нашей сети: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порт G0/0 → SW-CORE · подынтерфейсы G0/0.10, .20, .30, .99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2 из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Коммутатор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Коммутатор Cisco Catalyst 2960-24TT-L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251460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private/tmp/claude-501/-Users-sergei/2bb89287-c36d-4b6a-b8e3-e06097a589c7/scratchpad/t/presentation/images/swit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720" y="1481328"/>
            <a:ext cx="30480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23360"/>
            <a:ext cx="3749040" cy="777240"/>
          </a:xfrm>
          <a:prstGeom prst="roundRect">
            <a:avLst>
              <a:gd name="adj" fmla="val 11765"/>
            </a:avLst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шт. × 28 000 ₽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40233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112 000 ₽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0" y="1709928"/>
            <a:ext cx="128016" cy="12801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0600" y="16642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Подключает устройства: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порта для ПК, принтеров и сервера, ещё 2 гигабитных порта для связи с ядром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2258568"/>
            <a:ext cx="128016" cy="12801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2128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Разделяет отделы: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изолируют трафик бухгалтерии, продаж и IT на одном оборудовании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2807208"/>
            <a:ext cx="128016" cy="12801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00600" y="2761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Передаёт VLAN дальше: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trunk-каналы 802.1Q несут трафик всех отделов по одному кабелю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3355848"/>
            <a:ext cx="128016" cy="12801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0600" y="331012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Управляется удалённо: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коммутатора свой IP в VLAN 99 для настройки и мониторинга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× Fast Ethernet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Gigabit uplink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152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Управляемый L2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0" y="429768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09160" y="42976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нашей сети: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SW-CORE — ядро сети; SW-BUH, SW-SALES, SW-IT — по одному в каждом отделе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3 из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Рабочая станция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 (Core i5, 16 ГБ, SSD 512 ГБ) + монитор 24"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251460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private/tmp/claude-501/-Users-sergei/2bb89287-c36d-4b6a-b8e3-e06097a589c7/scratchpad/t/presentation/images/p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1481328"/>
            <a:ext cx="34290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23360"/>
            <a:ext cx="3749040" cy="777240"/>
          </a:xfrm>
          <a:prstGeom prst="roundRect">
            <a:avLst>
              <a:gd name="adj" fmla="val 11765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шт. × 62 000 ₽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40233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558 000 ₽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0" y="1709928"/>
            <a:ext cx="128016" cy="12801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0600" y="16642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Рабочее место сотрудника: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и отчётность в бухгалтерии, работа с клиентами в продажах, администрирование в IT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2258568"/>
            <a:ext cx="128016" cy="12801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2128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Автоматическая настройка: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включении получает IP-адрес по DHCP от маршрутизатора R1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2807208"/>
            <a:ext cx="128016" cy="12801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00600" y="2761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сервисам: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файлы и внутренний портал на сервере, печатает на МФУ отдела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3355848"/>
            <a:ext cx="128016" cy="12801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0600" y="331012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 по мощности: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i5, 16 ГБ и SSD хватит на офисные программы на 5+ лет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i5 / 16 ГБ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512 ГБ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152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 24"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0" y="429768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09160" y="42976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нашей сети: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PC1–PC3 — бухгалтерия, PC4–PC6 — продажи, PC7–PC9 — IT-отдел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4 из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Сервер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HPE ProLiant DL20 Gen10 Plus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251460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private/tmp/claude-501/-Users-sergei/2bb89287-c36d-4b6a-b8e3-e06097a589c7/scratchpad/t/presentation/images/ser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47063"/>
            <a:ext cx="3474720" cy="195453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23360"/>
            <a:ext cx="3749040" cy="777240"/>
          </a:xfrm>
          <a:prstGeom prst="roundRect">
            <a:avLst>
              <a:gd name="adj" fmla="val 11765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шт. × 210 000 ₽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40233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210 000 ₽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0" y="1709928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0600" y="16642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Хранит данные: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общие папки отделов и документы в одном защищённом месте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2258568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2128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переводит имена сайтов и сервисов в IP-адреса для всех компьютеров офиса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2807208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00600" y="2761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веб-портал: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HTTP-сервер для новостей, инструкций и заявок сотрудников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3355848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0600" y="331012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Резервные копии: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бэкапы данных — защита от потери информации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Стоечный 1U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Xeon E-2300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152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ECC-память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0" y="429768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09160" y="42976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нашей сети: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· 192.168.99.10 · VLAN 99 · порт SW-CORE Fa0/13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5 из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МФУ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МФУ лазерное сетевое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251460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private/tmp/claude-501/-Users-sergei/2bb89287-c36d-4b6a-b8e3-e06097a589c7/scratchpad/t/presentation/images/mf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848" y="1481328"/>
            <a:ext cx="1559744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23360"/>
            <a:ext cx="3749040" cy="777240"/>
          </a:xfrm>
          <a:prstGeom prst="roundRect">
            <a:avLst>
              <a:gd name="adj" fmla="val 11765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шт. × 24 000 ₽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40233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72 000 ₽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0" y="1709928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0600" y="16642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Печать: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сетевой лазерный принтер общий для всех сотрудников отдела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2258568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2128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Сканирование: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сканирует документы сразу в папку отдела на сервере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2807208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00600" y="2761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Копирование: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копии договоров и отчётов без отдельного копира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3355848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0600" y="331012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Сетевое подключение: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подключается в свободный порт коммутатора и попадает в VLAN своего отдела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Лазерная печать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Сканер + копир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152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0" y="429768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09160" y="42976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нашей сети: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одному МФУ на отдел: к SW-BUH, SW-SALES и SW-IT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6 из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Серверный шкаф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Шкаф серверный 19" 18U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251460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private/tmp/claude-501/-Users-sergei/2bb89287-c36d-4b6a-b8e3-e06097a589c7/scratchpad/t/presentation/images/ra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4092"/>
            <a:ext cx="3474720" cy="228047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23360"/>
            <a:ext cx="3749040" cy="777240"/>
          </a:xfrm>
          <a:prstGeom prst="roundRect">
            <a:avLst>
              <a:gd name="adj" fmla="val 11765"/>
            </a:avLst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шт. × 32 000 ₽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40233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32 000 ₽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0" y="1709928"/>
            <a:ext cx="128016" cy="12801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0600" y="16642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Размещает оборудование: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SW-CORE, сервер, патч-панель и ИБП в одном месте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2258568"/>
            <a:ext cx="128016" cy="12801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2128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Защищает: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запирается на ключ — к оборудованию нет доступа у посторонних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2807208"/>
            <a:ext cx="128016" cy="12801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00600" y="2761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Охлаждает: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перфорированные двери и место для вентиляторов отводят тепло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3355848"/>
            <a:ext cx="128016" cy="12801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0600" y="331012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Упорядочивает кабели: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кабели от розеток приходят на патч-панель, дальше — короткие патч-корды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дюймов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18U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152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Замок + вентиляция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0" y="429768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09160" y="42976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нашей сети: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Занято около 7U из 18U — остаётся запас под расширение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7 из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 бесперебойного питания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ИБП APC Smart-UPS 1500 ВА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251460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private/tmp/claude-501/-Users-sergei/2bb89287-c36d-4b6a-b8e3-e06097a589c7/scratchpad/t/presentation/images/u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18107"/>
            <a:ext cx="3474720" cy="201244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023360"/>
            <a:ext cx="3749040" cy="777240"/>
          </a:xfrm>
          <a:prstGeom prst="roundRect">
            <a:avLst>
              <a:gd name="adj" fmla="val 11765"/>
            </a:avLst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шт. × 48 000 ₽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40233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48 000 ₽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0" y="1709928"/>
            <a:ext cx="128016" cy="12801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0600" y="16642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Защищает от отключений: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пропадании света питает оборудование от батарей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2258568"/>
            <a:ext cx="128016" cy="12801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2128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Стабилизирует напряжение: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AVR выравнивает скачки и просадки в электросети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2807208"/>
            <a:ext cx="128016" cy="12801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00600" y="2761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Корректное выключение: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время сохранить данные и выключить сервер без потерь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3355848"/>
            <a:ext cx="128016" cy="12801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0600" y="331012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Бережёт технику: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фильтрует помехи и продлевает жизнь блокам питания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1500 ВА / 1000 Вт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Стабилизатор AVR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15200" y="39044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4F7FB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0" y="39044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стойки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0" y="429768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09160" y="42976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нашей сети: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Питает ядро сети: R1, SW-CORE и сервер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Расходные материалы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прокладки СКС и подключения рабочих мест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private/tmp/claude-501/-Users-sergei/2bb89287-c36d-4b6a-b8e3-e06097a589c7/scratchpad/t/presentation/images/ca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310679"/>
            <a:ext cx="868680" cy="69791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81328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Кабель витая пара UTP Cat.5e, бухта 305 м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481328" y="1783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7 500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15 000 ₽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246120" y="12344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/private/tmp/claude-501/-Users-sergei/2bb89287-c36d-4b6a-b8e3-e06097a589c7/scratchpad/t/presentation/images/rj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1333881"/>
            <a:ext cx="868680" cy="65151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70248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Коннекторы RJ-45 8P8C (уп. 100 шт.)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270248" y="1783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900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1 800 ₽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35040" y="12344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/private/tmp/claude-501/-Users-sergei/2bb89287-c36d-4b6a-b8e3-e06097a589c7/scratchpad/t/presentation/images/boo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1376059"/>
            <a:ext cx="868680" cy="56715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59168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Изолирующие колпачки (уп. 100 шт.)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7059168" y="1783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350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700 ₽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21488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/private/tmp/claude-501/-Users-sergei/2bb89287-c36d-4b6a-b8e3-e06097a589c7/scratchpad/t/presentation/images/pane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284928"/>
            <a:ext cx="868680" cy="57821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81328" y="22219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Патч-панель 24 порта Cat.5e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1481328" y="26974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3 200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3 200 ₽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3246120" y="21488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private/tmp/claude-501/-Users-sergei/2bb89287-c36d-4b6a-b8e3-e06097a589c7/scratchpad/t/presentation/images/socke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272" y="2276332"/>
            <a:ext cx="868680" cy="59540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270248" y="22219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Розетка RJ-45 настенная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4270248" y="26974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× 350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4 200 ₽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6035040" y="21488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5" descr="/private/tmp/claude-501/-Users-sergei/2bb89287-c36d-4b6a-b8e3-e06097a589c7/scratchpad/t/presentation/images/duct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9330" y="2221992"/>
            <a:ext cx="706404" cy="70408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059168" y="22219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Кабель-канал 25×16 мм, 2 м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7059168" y="26974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× 180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7 200 ₽</a:t>
            </a:r>
            <a:endParaRPr lang="en-US" sz="900" dirty="0"/>
          </a:p>
        </p:txBody>
      </p:sp>
      <p:sp>
        <p:nvSpPr>
          <p:cNvPr id="28" name="Shape 20"/>
          <p:cNvSpPr/>
          <p:nvPr/>
        </p:nvSpPr>
        <p:spPr>
          <a:xfrm>
            <a:off x="457200" y="30632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9" name="Image 6" descr="/private/tmp/claude-501/-Users-sergei/2bb89287-c36d-4b6a-b8e3-e06097a589c7/scratchpad/t/presentation/images/cord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3162681"/>
            <a:ext cx="868680" cy="65151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481328" y="31363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Патч-корд UTP 1 м</a:t>
            </a:r>
            <a:endParaRPr lang="en-US" sz="900" dirty="0"/>
          </a:p>
        </p:txBody>
      </p:sp>
      <p:sp>
        <p:nvSpPr>
          <p:cNvPr id="31" name="Text 22"/>
          <p:cNvSpPr txBox="1"/>
          <p:nvPr/>
        </p:nvSpPr>
        <p:spPr>
          <a:xfrm>
            <a:off x="1481328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× 150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3 000 ₽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3246120" y="30632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3" name="Image 7" descr="/private/tmp/claude-501/-Users-sergei/2bb89287-c36d-4b6a-b8e3-e06097a589c7/scratchpad/t/presentation/images/console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9272" y="3162681"/>
            <a:ext cx="868680" cy="65151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4270248" y="31363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Консольный кабель Cisco RJ-45 – USB</a:t>
            </a:r>
            <a:endParaRPr lang="en-US" sz="900" dirty="0"/>
          </a:p>
        </p:txBody>
      </p:sp>
      <p:sp>
        <p:nvSpPr>
          <p:cNvPr id="35" name="Text 25"/>
          <p:cNvSpPr txBox="1"/>
          <p:nvPr/>
        </p:nvSpPr>
        <p:spPr>
          <a:xfrm>
            <a:off x="4270248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1 200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1 200 ₽</a:t>
            </a:r>
            <a:endParaRPr lang="en-US" sz="900" dirty="0"/>
          </a:p>
        </p:txBody>
      </p:sp>
      <p:sp>
        <p:nvSpPr>
          <p:cNvPr id="36" name="Shape 26"/>
          <p:cNvSpPr/>
          <p:nvPr/>
        </p:nvSpPr>
        <p:spPr>
          <a:xfrm>
            <a:off x="6035040" y="30632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7" name="Image 8" descr="/private/tmp/claude-501/-Users-sergei/2bb89287-c36d-4b6a-b8e3-e06097a589c7/scratchpad/t/presentation/images/crimp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8192" y="3162681"/>
            <a:ext cx="868680" cy="65151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059168" y="31363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Кримпер + LAN-тестер</a:t>
            </a:r>
            <a:endParaRPr lang="en-US" sz="900" dirty="0"/>
          </a:p>
        </p:txBody>
      </p:sp>
      <p:sp>
        <p:nvSpPr>
          <p:cNvPr id="39" name="Text 28"/>
          <p:cNvSpPr txBox="1"/>
          <p:nvPr/>
        </p:nvSpPr>
        <p:spPr>
          <a:xfrm>
            <a:off x="7059168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3 500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3 500 ₽</a:t>
            </a:r>
            <a:endParaRPr lang="en-US" sz="900" dirty="0"/>
          </a:p>
        </p:txBody>
      </p:sp>
      <p:sp>
        <p:nvSpPr>
          <p:cNvPr id="40" name="Shape 29"/>
          <p:cNvSpPr/>
          <p:nvPr/>
        </p:nvSpPr>
        <p:spPr>
          <a:xfrm>
            <a:off x="457200" y="39776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1" name="Image 9" descr="/private/tmp/claude-501/-Users-sergei/2bb89287-c36d-4b6a-b8e3-e06097a589c7/scratchpad/t/presentation/images/ties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352" y="4077081"/>
            <a:ext cx="868680" cy="65151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1481328" y="4050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Стяжки, маркировка, крепёж (комплект)</a:t>
            </a:r>
            <a:endParaRPr lang="en-US" sz="900" dirty="0"/>
          </a:p>
        </p:txBody>
      </p:sp>
      <p:sp>
        <p:nvSpPr>
          <p:cNvPr id="43" name="Text 31"/>
          <p:cNvSpPr txBox="1"/>
          <p:nvPr/>
        </p:nvSpPr>
        <p:spPr>
          <a:xfrm>
            <a:off x="1481328" y="45262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1 500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1 500 ₽</a:t>
            </a:r>
            <a:endParaRPr lang="en-US" sz="900" dirty="0"/>
          </a:p>
        </p:txBody>
      </p:sp>
      <p:sp>
        <p:nvSpPr>
          <p:cNvPr id="44" name="Shape 32"/>
          <p:cNvSpPr/>
          <p:nvPr/>
        </p:nvSpPr>
        <p:spPr>
          <a:xfrm>
            <a:off x="3246120" y="3977640"/>
            <a:ext cx="5440680" cy="850392"/>
          </a:xfrm>
          <a:prstGeom prst="roundRect">
            <a:avLst>
              <a:gd name="adj" fmla="val 860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3474720" y="3977640"/>
            <a:ext cx="3108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расходные материалы</a:t>
            </a:r>
            <a:endParaRPr lang="en-US" sz="1500" dirty="0"/>
          </a:p>
        </p:txBody>
      </p:sp>
      <p:sp>
        <p:nvSpPr>
          <p:cNvPr id="46" name="Text 34"/>
          <p:cNvSpPr txBox="1"/>
          <p:nvPr/>
        </p:nvSpPr>
        <p:spPr>
          <a:xfrm>
            <a:off x="6537960" y="3977640"/>
            <a:ext cx="1920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41 300 ₽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проекта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91440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394960" y="118872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2356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стоимость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691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1 138 300 ₽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0680" y="3081528"/>
            <a:ext cx="201168" cy="201168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0" y="29992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1 097 000 ₽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40680" y="3630168"/>
            <a:ext cx="201168" cy="201168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35478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Расходные материалы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35478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41 300 ₽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работы сети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ping с рабочих станций в Packet Tracer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35608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28016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PC9 (IT)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— бухгалтерия 192.168.10.11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389888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0" y="128016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938528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093976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193852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PC9 (IT)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PC5 — продажи 192.168.20.12</a:t>
            </a:r>
            <a:endParaRPr lang="en-US" sz="13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048256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29200" y="193852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57200" y="2596896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94360" y="2752344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0120" y="259689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PC9 (IT)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192.168.99.10</a:t>
            </a:r>
            <a:endParaRPr lang="en-US" sz="13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06624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29200" y="259689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3255264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94360" y="3410712"/>
            <a:ext cx="219456" cy="21945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60120" y="325526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Trunk-каналы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802.1Q, все линки up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36499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029200" y="325526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57200" y="3913632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94360" y="4069080"/>
            <a:ext cx="219456" cy="21945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60120" y="391363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ПК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получили IP по DHCP</a:t>
            </a:r>
            <a:endParaRPr lang="en-US" sz="13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023360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029200" y="39136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5943600" y="1280160"/>
            <a:ext cx="2743200" cy="3163824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126480" y="141732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C:\&gt;ping 192.168.10.11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timed out.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 from 192.168.10.11: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bytes=32 time&lt;1ms TTL=127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 from 192.168.10.11: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bytes=32 time&lt;1ms TTL=127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 = 4, Received =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(1-й пакет — ARP-запрос)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5380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Спроектирована ЛВС на 3 отдела: 9 ПК, сервер, 4 коммутатора, маршрутизатор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236098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40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Отделы разделены по VLAN, маршрутизация между ними — на R1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3063240"/>
            <a:ext cx="548640" cy="548640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3183941"/>
            <a:ext cx="307238" cy="3072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Адреса раздаются по DHCP, связь между всеми узлами проверена ping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4006901"/>
            <a:ext cx="307238" cy="30723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Составлена смета: 1 138 300 ₽ на оборудование и материалы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 изображений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Фотографии оборудования — Wikimedia Commons, свободные лицензии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Маршрутизатор: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2800 series router (1).jpg — Robert, CC BY 2.0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Коммутаторы: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Ccna security lab.JPG — Axel Dux, CC BY-SA 3.0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20150214-20150219최광모C36.JPG — 최광모, CC BY-SA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ProLiant DL360 and two DL380.jpg — Robert, CC BY 2.0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МФУ: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Color LaserJet CM1312nfi Multifunction Printer.jpg — Sgroey, CC BY-SA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Шкаф: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Racksserver.png — Racksserver, CC BY-SA 3.0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ИБП: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Apc ups rs500 07.jpg — Hundehalter, CC BY-SA 3.0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Кабель UTP: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10baseT cable.jpeg — Dflock, Public domain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Коннекторы RJ-45: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8P8C modular plugs (1).JPG — CyberXRef, CC BY-SA 3.0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Колпачки: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10baseT jack.png — Dflock at English Wikipedia, Public domain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Патч-панель: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19" patchpanel for up to 24 keystone modules.jpg — Phiarc, CC BY-SA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Розетка RJ-45: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RJ45-wall.jpg — NzW at Wikipedia, Public domain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Кабель-канал: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trunking accessories.JPG — Leotard, Public domain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Патч-корд: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232x174 RJ-45 patchcord.png — Mlewis000 (talk) (Uploads), CC BY-SA 3.0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Консольный кабель: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CiscoConsoleCable.jpg — Pries, CC BY-SA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Кримпер и тестер: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stripper, cable tester (RJ45, RJ11), LSA-Tool and crimping tool.jpg — www.heimnetzwerke.net, CC BY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Стяжки: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ties.jpg — Silverxxx (talk), CC BY-SA 3.0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Страница каждого файла: commons.wikimedia.org/wiki/File:&lt;имя файла&gt;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ЛВС офиса на 3 отдела — Cisco Packet Tracer</dc:title>
  <dc:subject>PptxGenJS Presentation</dc:subject>
  <dc:creator>PptxGenJS</dc:creator>
  <cp:lastModifiedBy>PptxGenJS</cp:lastModifiedBy>
  <cp:revision>1</cp:revision>
  <dcterms:created xsi:type="dcterms:W3CDTF">2026-09-29T11:27:42Z</dcterms:created>
  <dcterms:modified xsi:type="dcterms:W3CDTF">2026-09-29T11:27:42Z</dcterms:modified>
</cp:coreProperties>
</file>